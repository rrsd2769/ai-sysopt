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9ddd44-717e-ab86-e30f-295271782230}">
          <p14:sldIdLst>
            <p14:sldId id="256"/>
            <p14:sldId id="257"/>
            <p14:sldId id="258"/>
          </p14:sldIdLst>
        </p14:section>
        <p14:section name="System" id="{150f26ab-e441-e033-ccdd-0eeef3d2a35e}">
          <p14:sldIdLst>
            <p14:sldId id="259"/>
            <p14:sldId id="260"/>
          </p14:sldIdLst>
        </p14:section>
        <p14:section name="Data" id="{a550fae9-68da-045e-fc47-a423911bc11e}">
          <p14:sldIdLst>
            <p14:sldId id="261"/>
          </p14:sldIdLst>
        </p14:section>
        <p14:section name="Model comparison" id="{d24b9c2d-4e10-f3a7-2048-4a9d33593263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Deployment" id="{12292505-048e-6569-8283-54d09c8117b4}">
          <p14:sldIdLst>
            <p14:sldId id="268"/>
          </p14:sldIdLst>
        </p14:section>
        <p14:section name="Conclusion" id="{b3113b8f-806d-47c5-35a0-f10dd380c104}">
          <p14:sldIdLst>
            <p14:sldId id="269"/>
          </p14:sldIdLst>
        </p14:section>
        <p14:section name="Live demo" id="{c36dbed2-e1d4-f87e-111e-01ed91fb5490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over 4 targets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+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LightGBM</c:v>
                  </c:pt>
                  <c:pt idx="1">
                    <c:v>Random Forest</c:v>
                  </c:pt>
                  <c:pt idx="2">
                    <c:v>Ridge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25</c:v>
                </c:pt>
                <c:pt idx="2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Worst single target</c:v>
                </c:pt>
              </c:strCache>
            </c:strRef>
          </c:tx>
          <c:spPr>
            <a:solidFill>
              <a:srgbClr val="A9B8CF"/>
            </a:solidFill>
            <a:effectLst/>
          </c:spPr>
          <c:invertIfNegative val="0"/>
          <c:dLbls>
            <c:numFmt formatCode="+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LightGBM</c:v>
                  </c:pt>
                  <c:pt idx="1">
                    <c:v>Random Forest</c:v>
                  </c:pt>
                  <c:pt idx="2">
                    <c:v>Ridge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</c:v>
                </c:pt>
                <c:pt idx="1">
                  <c:v>85</c:v>
                </c:pt>
                <c:pt idx="2">
                  <c:v>179</c:v>
                </c:pt>
              </c:numCache>
            </c:numRef>
          </c:val>
        </c:ser>
        <c:dLbls>
          <c:numFmt formatCode="+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4213D"/>
                    </a:solidFill>
                    <a:latin typeface="+mn-lt"/>
                  </a:rPr>
                  <a:t>Model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4213D"/>
                    </a:solidFill>
                    <a:latin typeface="+mn-lt"/>
                  </a:rPr>
                  <a:t>Extra error vs. "no change" (%)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"No change"</c:v>
                </c:pt>
              </c:strCache>
            </c:strRef>
          </c:tx>
          <c:spPr>
            <a:solidFill>
              <a:srgbClr val="A3ACB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Load steady (75 % of time)</c:v>
                  </c:pt>
                  <c:pt idx="1">
                    <c:v>Load changing (25 % of time)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1.13</c:v>
                </c:pt>
                <c:pt idx="1">
                  <c:v>8.67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E896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Load steady (75 % of time)</c:v>
                  </c:pt>
                  <c:pt idx="1">
                    <c:v>Load changing (25 % of time)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1.91</c:v>
                </c:pt>
                <c:pt idx="1">
                  <c:v>6.1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6C7F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Load steady (75 % of time)</c:v>
                  </c:pt>
                  <c:pt idx="1">
                    <c:v>Load changing (25 % of time)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2.12</c:v>
                </c:pt>
                <c:pt idx="1">
                  <c:v>6.15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Load steady (75 % of time)</c:v>
                  </c:pt>
                  <c:pt idx="1">
                    <c:v>Load changing (25 % of time)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1.64</c:v>
                </c:pt>
                <c:pt idx="1">
                  <c:v>5.74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4213D"/>
                    </a:solidFill>
                    <a:latin typeface="+mn-lt"/>
                  </a:rPr>
                  <a:t>Situation in the test data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r>
                  <a:rPr sz="1300" b="0" i="0" u="none" strike="noStrike">
                    <a:solidFill>
                      <a:srgbClr val="14213D"/>
                    </a:solidFill>
                    <a:latin typeface="+mn-lt"/>
                  </a:rPr>
                  <a:t>Average error (CPU percentage points)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PRISM forecasts CPU and memory, predicts contention, explains the cause and recommends an action, all on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tools like Activity Monitor show what is happening now but never predict, explain or advise. Research on resource prediction (PRESS; ARIMA-based work by Roy et al. and Calheiros et al.) targets cloud servers, where the forecast drives automatic scaling, not advice to a person. PRISM brings prediction to a single personal computer and adds an explanation (SHAP), concrete advice, anomaly awareness, and on-device training behind a quality gate. References: Z. Gong, X. Gu, J. Wilkes, PRESS, CNSM 2010; N. Roy, A. Dubey, A. Gokhale, IEEE CLOUD 2011; R. N. Calheiros et al., IEEE Trans. Cloud Computing 2015.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sample. (1) psutil collectors read the machine and (2) hand rows to a bounded queue; one writer thread saves them to SQLite. (3) The feature engine reads the recent window and builds 254 features. (4) LightGBM forecasts CPU and memory; Isolation Forest scores how unusual the moment is. (5) Both feed a logistic-regression contention classifier. (6) If risk is high, SHAP finds the cause and the catalogue suggests three actions. (7) FastAPI pushes the result to the browser over a WebSocket. The live loop thread runs steps 3 to 6 every 5 s. Dashed: preprocessing and model comparison run when training; the lifecycle deploys a model only after the gate and a human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Per-sample steps live in the feature engine; row and column steps in features/preprocessing.py; imputation and scaling for Ridge are scikit-learn's SimpleImputer(strategy='median') and StandardScaler inside a Pipeline. The log-modulus transform keeps the sign and compresses huge byte rates so a linear model can use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these three: tree ensembles are the strongest family on medium tabular data; Ridge is the standard linear baseline. Deep sequence models were excluded because PRISM retrains on the user's own laptop. MAE = mean absolute error in percentage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LightGBM is the only forecaster that is deployed; Random Forest and Ridge exist only in the comparison harness (run with 'aiperfopt compare'). Line numbers: LightGBM params forecasting/model.py:42, training :105; Random Forest model_comparison.py:146; Ridge :152; baselines.py persistence :58, moving average :68, Holt :85; IsolationForest anomaly/detector.py:140; LogisticRegression contention/model.py:90.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PRISM's forecasts are about 98 % accurate overall, 97 % for CPU and 99 % for memory, on the newest 20 % of the data the model never saw. Accuracy = 1 minus the normalised mean absolute error. Be ready: because the laptop was mostly idle, simply repeating the current value scores about the same on average; the models' advantage shows when load changes, where they are about 30 % more accurate (next slides). The contention classifier has no accuracy figure: the test period had no real contention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chart as: how much worse than simply repeating the current value. Lower is better. Measured on the newest 20 % of data, never seen in training. Targets: CPU and memory, 45 s and 210 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'Changing' means the CPU moved by more than 3.8 points over the next 45 s (the largest 25 % of moves). This split uses the real outcome, so it explains the results; it is not something the live system can use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Recorded live on this Mac on 20 Oct 2026, with dozens of browser tabs open. Nothing was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Between the two slides the browser went from dozens of tabs to one. The red band on the contention chart marks the period the risk was above the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9D3E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</a:rPr>
              <a:t>PRISM · Final Review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F2A93B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BA6"/>
                </a:solidFill>
              </a:rPr>
              <a:t>PRISM · Final Review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F8B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FINAL REVIEW · PROJECT PRESENTATION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108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3E3"/>
                </a:solidFill>
              </a:rPr>
              <a:t>Predictive, explainable system-health monitoring on a personal computer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Sahil Dhanuka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</a:rPr>
              <a:t>Reg. No. 24BDS0456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7680" y="48463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Shambhav Ghosh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</a:rPr>
              <a:t>Reg. No. 24BCB0013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63840" y="48463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Naresh Kumar Bishnoi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9D3E3"/>
                </a:solidFill>
              </a:rPr>
              <a:t>Reg. No. 24BDS0336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080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3"/>
                </a:solidFill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PROBLEM AND OBJECTIVES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tools react; PRISM predicts and explains</a:t>
            </a:r>
            <a:endParaRPr lang="en-US" sz="3200" dirty="0"/>
          </a:p>
        </p:txBody>
      </p:sp>
      <p:sp>
        <p:nvSpPr>
          <p:cNvPr id="4" name="today card"/>
          <p:cNvSpPr/>
          <p:nvPr/>
        </p:nvSpPr>
        <p:spPr>
          <a:xfrm>
            <a:off x="548640" y="1463040"/>
            <a:ext cx="53492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Activity Monitor / Task Manager today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Shows usage only after the slowdown is felt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Raw numbers, no cause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advice on what to do</a:t>
            </a:r>
            <a:endParaRPr lang="en-US" sz="1600" dirty="0"/>
          </a:p>
        </p:txBody>
      </p:sp>
      <p:sp>
        <p:nvSpPr>
          <p:cNvPr id="7" name="prism card"/>
          <p:cNvSpPr/>
          <p:nvPr/>
        </p:nvSpPr>
        <p:spPr>
          <a:xfrm>
            <a:off x="6263640" y="1463040"/>
            <a:ext cx="5349240" cy="260604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PRISM answers four questions every 5 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4884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bg1"/>
                </a:solidFill>
              </a:rPr>
              <a:t>Where will CPU and memory be in 45 s and 210 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</a:rPr>
              <a:t>How likely is a slowdown (resource contention)?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chemeClr val="bg1"/>
                </a:solidFill>
              </a:rPr>
              <a:t>What is causing it?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chemeClr val="bg1"/>
                </a:solidFill>
              </a:rPr>
              <a:t>What should the user do?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How PRISM works, on the laptop itself</a:t>
            </a:r>
            <a:endParaRPr lang="en-US" sz="1800" dirty="0"/>
          </a:p>
        </p:txBody>
      </p:sp>
      <p:sp>
        <p:nvSpPr>
          <p:cNvPr id="11" name="Collect step"/>
          <p:cNvSpPr/>
          <p:nvPr/>
        </p:nvSpPr>
        <p:spPr>
          <a:xfrm>
            <a:off x="548640" y="4846320"/>
            <a:ext cx="20574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4983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5084064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80160" y="4983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Collect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5504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CPU, memory, disk, network and processes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624328" y="5504688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Forecast step"/>
          <p:cNvSpPr/>
          <p:nvPr/>
        </p:nvSpPr>
        <p:spPr>
          <a:xfrm>
            <a:off x="2798064" y="4846320"/>
            <a:ext cx="20574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62656" y="4983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508406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529584" y="4983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Forecast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2962656" y="5504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CPU and memory 45 s and 210 s ahead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873752" y="5504688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Score risk step"/>
          <p:cNvSpPr/>
          <p:nvPr/>
        </p:nvSpPr>
        <p:spPr>
          <a:xfrm>
            <a:off x="5047488" y="4846320"/>
            <a:ext cx="20574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212080" y="4983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508406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779008" y="4983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Score risk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5212080" y="5504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probability of a slowdown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7123176" y="5504688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Explain step"/>
          <p:cNvSpPr/>
          <p:nvPr/>
        </p:nvSpPr>
        <p:spPr>
          <a:xfrm>
            <a:off x="7296912" y="4846320"/>
            <a:ext cx="20574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61504" y="4983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5084064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028432" y="4983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Explain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461504" y="5504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most likely cause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372600" y="5504688"/>
            <a:ext cx="1554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Advise step"/>
          <p:cNvSpPr/>
          <p:nvPr/>
        </p:nvSpPr>
        <p:spPr>
          <a:xfrm>
            <a:off x="9546336" y="4846320"/>
            <a:ext cx="20574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710928" y="4983480"/>
            <a:ext cx="457200" cy="4572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5084064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277856" y="4983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Advise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9710928" y="5504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three concrete actions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EXISTING 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PRISM compares with existing work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286000"/>
                <a:gridCol w="22860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Activity Monitor / Task Manager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3E3"/>
                          </a:solidFill>
                        </a:rPr>
                        <a:t>built into macOS / Windows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PRESS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3E3"/>
                          </a:solidFill>
                        </a:rPr>
                        <a:t>Gong et al., CNSM 2010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ARIMA workload prediction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9D3E3"/>
                          </a:solidFill>
                        </a:rPr>
                        <a:t>Roy et al. 2011; Calheiros et al. 2015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PRISM (ours)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6D9A8"/>
                          </a:solidFill>
                        </a:rPr>
                        <a:t>this project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F0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Where it runs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Personal computer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Cloud servers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Cloud servers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Personal computer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Predicts future load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  current only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6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6E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✓  45 s and 210 s ahead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FFT + Markov chain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ARIMA time-series model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LightGBM (beat RF, Ridge)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Explains the cause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✓  SHAP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Advice to the user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auto-scales servers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auto-scales servers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✓  3 concrete actions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Flags unusual behaviour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✓  Isolation Forest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Trains on the user's machine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 (no model)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453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✓  with a 5 % deployment gate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</a:tr>
            </a:tbl>
          </a:graphicData>
        </a:graphic>
      </p:graphicFrame>
      <p:sp>
        <p:nvSpPr>
          <p:cNvPr id="5" name="Different setting"/>
          <p:cNvSpPr/>
          <p:nvPr/>
        </p:nvSpPr>
        <p:spPr>
          <a:xfrm>
            <a:off x="548640" y="530352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Different setting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Cloud work sees smooth, aggregated demand. A laptop is mostly idle with short, user-driven bursts.</a:t>
            </a:r>
            <a:endParaRPr lang="en-US" sz="1400" dirty="0"/>
          </a:p>
        </p:txBody>
      </p:sp>
      <p:sp>
        <p:nvSpPr>
          <p:cNvPr id="7" name="Beyond forecasting"/>
          <p:cNvSpPr/>
          <p:nvPr/>
        </p:nvSpPr>
        <p:spPr>
          <a:xfrm>
            <a:off x="4297680" y="530352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Beyond forecasting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PRISM adds the cause and the action, not just a number.</a:t>
            </a:r>
            <a:endParaRPr lang="en-US" sz="1400" dirty="0"/>
          </a:p>
        </p:txBody>
      </p:sp>
      <p:sp>
        <p:nvSpPr>
          <p:cNvPr id="9" name="Private and local"/>
          <p:cNvSpPr/>
          <p:nvPr/>
        </p:nvSpPr>
        <p:spPr>
          <a:xfrm>
            <a:off x="8046720" y="530352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11312" y="5303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Private and local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Data, training and models never leave the machine.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B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OS sample to a forecast on screen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4BFD6"/>
                </a:solidFill>
              </a:rPr>
              <a:t>Follow the numbers 1 → 7</a:t>
            </a:r>
            <a:endParaRPr lang="en-US" sz="1300" dirty="0"/>
          </a:p>
        </p:txBody>
      </p:sp>
      <p:sp>
        <p:nvSpPr>
          <p:cNvPr id="5" name="01 COLLECT panel"/>
          <p:cNvSpPr/>
          <p:nvPr/>
        </p:nvSpPr>
        <p:spPr>
          <a:xfrm>
            <a:off x="457200" y="1508760"/>
            <a:ext cx="1645920" cy="3429000"/>
          </a:xfrm>
          <a:prstGeom prst="roundRect">
            <a:avLst>
              <a:gd name="adj" fmla="val 5556"/>
            </a:avLst>
          </a:prstGeom>
          <a:solidFill>
            <a:srgbClr val="152040"/>
          </a:solidFill>
          <a:ln w="9525">
            <a:solidFill>
              <a:srgbClr val="2534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819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8AF5"/>
                </a:solidFill>
              </a:rPr>
              <a:t>01 COLLECT</a:t>
            </a:r>
            <a:endParaRPr lang="en-US" sz="1000" dirty="0"/>
          </a:p>
        </p:txBody>
      </p:sp>
      <p:sp>
        <p:nvSpPr>
          <p:cNvPr id="7" name="02 STORE panel"/>
          <p:cNvSpPr/>
          <p:nvPr/>
        </p:nvSpPr>
        <p:spPr>
          <a:xfrm>
            <a:off x="2414016" y="1508760"/>
            <a:ext cx="1554480" cy="3429000"/>
          </a:xfrm>
          <a:prstGeom prst="roundRect">
            <a:avLst>
              <a:gd name="adj" fmla="val 5882"/>
            </a:avLst>
          </a:prstGeom>
          <a:solidFill>
            <a:srgbClr val="152040"/>
          </a:solidFill>
          <a:ln w="9525">
            <a:solidFill>
              <a:srgbClr val="2534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23744" y="1581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93B"/>
                </a:solidFill>
              </a:rPr>
              <a:t>02 STORE</a:t>
            </a:r>
            <a:endParaRPr lang="en-US" sz="1000" dirty="0"/>
          </a:p>
        </p:txBody>
      </p:sp>
      <p:sp>
        <p:nvSpPr>
          <p:cNvPr id="9" name="03 FEATURES panel"/>
          <p:cNvSpPr/>
          <p:nvPr/>
        </p:nvSpPr>
        <p:spPr>
          <a:xfrm>
            <a:off x="4279392" y="1508760"/>
            <a:ext cx="1828800" cy="3429000"/>
          </a:xfrm>
          <a:prstGeom prst="roundRect">
            <a:avLst>
              <a:gd name="adj" fmla="val 5000"/>
            </a:avLst>
          </a:prstGeom>
          <a:solidFill>
            <a:srgbClr val="152040"/>
          </a:solidFill>
          <a:ln w="9525">
            <a:solidFill>
              <a:srgbClr val="2534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B0E6"/>
                </a:solidFill>
              </a:rPr>
              <a:t>03 FEATURES</a:t>
            </a:r>
            <a:endParaRPr lang="en-US" sz="1000" dirty="0"/>
          </a:p>
        </p:txBody>
      </p:sp>
      <p:sp>
        <p:nvSpPr>
          <p:cNvPr id="11" name="04 PREDICT + EXPLAIN panel"/>
          <p:cNvSpPr/>
          <p:nvPr/>
        </p:nvSpPr>
        <p:spPr>
          <a:xfrm>
            <a:off x="6419088" y="1508760"/>
            <a:ext cx="3291840" cy="3429000"/>
          </a:xfrm>
          <a:prstGeom prst="roundRect">
            <a:avLst>
              <a:gd name="adj" fmla="val 2778"/>
            </a:avLst>
          </a:prstGeom>
          <a:solidFill>
            <a:srgbClr val="152040"/>
          </a:solidFill>
          <a:ln w="9525">
            <a:solidFill>
              <a:srgbClr val="2534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28816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C6FA3"/>
                </a:solidFill>
              </a:rPr>
              <a:t>04 PREDICT + EXPLAIN</a:t>
            </a:r>
            <a:endParaRPr lang="en-US" sz="1000" dirty="0"/>
          </a:p>
        </p:txBody>
      </p:sp>
      <p:sp>
        <p:nvSpPr>
          <p:cNvPr id="13" name="05 SERVE panel"/>
          <p:cNvSpPr/>
          <p:nvPr/>
        </p:nvSpPr>
        <p:spPr>
          <a:xfrm>
            <a:off x="10021824" y="1508760"/>
            <a:ext cx="1709928" cy="3429000"/>
          </a:xfrm>
          <a:prstGeom prst="roundRect">
            <a:avLst>
              <a:gd name="adj" fmla="val 5348"/>
            </a:avLst>
          </a:prstGeom>
          <a:solidFill>
            <a:srgbClr val="152040"/>
          </a:solidFill>
          <a:ln w="9525">
            <a:solidFill>
              <a:srgbClr val="2534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31552" y="158191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3C7B8"/>
                </a:solidFill>
              </a:rPr>
              <a:t>05 SERVE</a:t>
            </a:r>
            <a:endParaRPr lang="en-US" sz="1000" dirty="0"/>
          </a:p>
        </p:txBody>
      </p:sp>
      <p:sp>
        <p:nvSpPr>
          <p:cNvPr id="15" name="Collectors"/>
          <p:cNvSpPr/>
          <p:nvPr/>
        </p:nvSpPr>
        <p:spPr>
          <a:xfrm>
            <a:off x="566928" y="1901952"/>
            <a:ext cx="1426464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1901952"/>
            <a:ext cx="1152144" cy="41148"/>
          </a:xfrm>
          <a:prstGeom prst="rect">
            <a:avLst/>
          </a:prstGeom>
          <a:solidFill>
            <a:srgbClr val="9B8AF5"/>
          </a:solidFill>
          <a:ln w="12700">
            <a:solidFill>
              <a:srgbClr val="9B8A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20299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9B8AF5">
              <a:alpha val="18000"/>
            </a:srgbClr>
          </a:solidFill>
          <a:ln w="9525">
            <a:solidFill>
              <a:srgbClr val="9B8AF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093976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78992" y="20299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Collectors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76656" y="23957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collectors.py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76656" y="2615184"/>
            <a:ext cx="1225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psutil reads the system every 1.5 s, top processes every 3 s</a:t>
            </a:r>
            <a:endParaRPr lang="en-US" sz="1050" dirty="0"/>
          </a:p>
        </p:txBody>
      </p:sp>
      <p:sp>
        <p:nvSpPr>
          <p:cNvPr id="22" name="Ingestion"/>
          <p:cNvSpPr/>
          <p:nvPr/>
        </p:nvSpPr>
        <p:spPr>
          <a:xfrm>
            <a:off x="566928" y="3502152"/>
            <a:ext cx="1426464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" y="3502152"/>
            <a:ext cx="1152144" cy="41148"/>
          </a:xfrm>
          <a:prstGeom prst="rect">
            <a:avLst/>
          </a:prstGeom>
          <a:solidFill>
            <a:srgbClr val="9B8AF5"/>
          </a:solidFill>
          <a:ln w="12700">
            <a:solidFill>
              <a:srgbClr val="9B8A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" y="36301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9B8AF5">
              <a:alpha val="18000"/>
            </a:srgbClr>
          </a:solidFill>
          <a:ln w="9525">
            <a:solidFill>
              <a:srgbClr val="9B8AF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694176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78992" y="3630168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Ingestion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676656" y="39959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ingestion.py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676656" y="4215384"/>
            <a:ext cx="1225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Bounded queue; one writer thread saves rows in batches</a:t>
            </a:r>
            <a:endParaRPr lang="en-US" sz="1050" dirty="0"/>
          </a:p>
        </p:txBody>
      </p:sp>
      <p:sp>
        <p:nvSpPr>
          <p:cNvPr id="29" name="SQLite"/>
          <p:cNvSpPr/>
          <p:nvPr/>
        </p:nvSpPr>
        <p:spPr>
          <a:xfrm>
            <a:off x="2734056" y="1997964"/>
            <a:ext cx="914400" cy="1133856"/>
          </a:xfrm>
          <a:prstGeom prst="can">
            <a:avLst/>
          </a:prstGeom>
          <a:solidFill>
            <a:srgbClr val="1C2A4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642616" y="2272284"/>
            <a:ext cx="1097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aiperfopt.db</a:t>
            </a:r>
            <a:endParaRPr lang="en-US" sz="1300" dirty="0"/>
          </a:p>
        </p:txBody>
      </p:sp>
      <p:sp>
        <p:nvSpPr>
          <p:cNvPr id="31" name="Storage"/>
          <p:cNvSpPr/>
          <p:nvPr/>
        </p:nvSpPr>
        <p:spPr>
          <a:xfrm>
            <a:off x="2523744" y="3502152"/>
            <a:ext cx="1335024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660904" y="3502152"/>
            <a:ext cx="1060704" cy="4114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633472" y="36301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2A93B">
              <a:alpha val="18000"/>
            </a:srgbClr>
          </a:solidFill>
          <a:ln w="9525">
            <a:solidFill>
              <a:srgbClr val="F2A93B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3694176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035808" y="363016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Storage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2633472" y="399592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storage/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2633472" y="4215384"/>
            <a:ext cx="11338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Samples, features, forecasts, diagnoses, model versions</a:t>
            </a:r>
            <a:endParaRPr lang="en-US" sz="1050" dirty="0"/>
          </a:p>
        </p:txBody>
      </p:sp>
      <p:sp>
        <p:nvSpPr>
          <p:cNvPr id="38" name="Feature engine"/>
          <p:cNvSpPr/>
          <p:nvPr/>
        </p:nvSpPr>
        <p:spPr>
          <a:xfrm>
            <a:off x="4389120" y="1901952"/>
            <a:ext cx="1609344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526280" y="1901952"/>
            <a:ext cx="1335024" cy="41148"/>
          </a:xfrm>
          <a:prstGeom prst="rect">
            <a:avLst/>
          </a:prstGeom>
          <a:solidFill>
            <a:srgbClr val="5AB0E6"/>
          </a:solidFill>
          <a:ln w="12700">
            <a:solidFill>
              <a:srgbClr val="5AB0E6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498848" y="20299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5AB0E6">
              <a:alpha val="18000"/>
            </a:srgbClr>
          </a:solidFill>
          <a:ln w="9525">
            <a:solidFill>
              <a:srgbClr val="5AB0E6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093976"/>
            <a:ext cx="201168" cy="20116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4901184" y="202996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Feature engine</a:t>
            </a:r>
            <a:endParaRPr lang="en-US" sz="1250" dirty="0"/>
          </a:p>
        </p:txBody>
      </p:sp>
      <p:sp>
        <p:nvSpPr>
          <p:cNvPr id="43" name="Text 37"/>
          <p:cNvSpPr txBox="1"/>
          <p:nvPr/>
        </p:nvSpPr>
        <p:spPr>
          <a:xfrm>
            <a:off x="4498848" y="23957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B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features/engine.py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4498848" y="2615184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254 features: lags, rates of change, rolling statistics, process activity</a:t>
            </a:r>
            <a:endParaRPr lang="en-US" sz="1050" dirty="0"/>
          </a:p>
        </p:txBody>
      </p:sp>
      <p:sp>
        <p:nvSpPr>
          <p:cNvPr id="45" name="Preprocessing"/>
          <p:cNvSpPr/>
          <p:nvPr/>
        </p:nvSpPr>
        <p:spPr>
          <a:xfrm>
            <a:off x="4389120" y="3502152"/>
            <a:ext cx="1609344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526280" y="3502152"/>
            <a:ext cx="1335024" cy="41148"/>
          </a:xfrm>
          <a:prstGeom prst="rect">
            <a:avLst/>
          </a:prstGeom>
          <a:solidFill>
            <a:srgbClr val="5AB0E6"/>
          </a:solidFill>
          <a:ln w="12700">
            <a:solidFill>
              <a:srgbClr val="5AB0E6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4498848" y="36301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5AB0E6">
              <a:alpha val="18000"/>
            </a:srgbClr>
          </a:solidFill>
          <a:ln w="9525">
            <a:solidFill>
              <a:srgbClr val="5AB0E6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3694176"/>
            <a:ext cx="201168" cy="201168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4901184" y="363016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50" name="Text 43"/>
          <p:cNvSpPr txBox="1"/>
          <p:nvPr/>
        </p:nvSpPr>
        <p:spPr>
          <a:xfrm>
            <a:off x="4498848" y="399592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B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preprocessing.py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4498848" y="4215384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Log-modulus transform, variance + correlation filters (training only)</a:t>
            </a:r>
            <a:endParaRPr lang="en-US" sz="1050" dirty="0"/>
          </a:p>
        </p:txBody>
      </p:sp>
      <p:sp>
        <p:nvSpPr>
          <p:cNvPr id="52" name="Forecaster"/>
          <p:cNvSpPr/>
          <p:nvPr/>
        </p:nvSpPr>
        <p:spPr>
          <a:xfrm>
            <a:off x="6528816" y="1901952"/>
            <a:ext cx="1399032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665976" y="1901952"/>
            <a:ext cx="1124712" cy="41148"/>
          </a:xfrm>
          <a:prstGeom prst="rect">
            <a:avLst/>
          </a:prstGeom>
          <a:solidFill>
            <a:srgbClr val="EC6FA3"/>
          </a:solidFill>
          <a:ln w="12700">
            <a:solidFill>
              <a:srgbClr val="EC6FA3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6638544" y="20299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C6FA3">
              <a:alpha val="18000"/>
            </a:srgbClr>
          </a:solidFill>
          <a:ln w="9525">
            <a:solidFill>
              <a:srgbClr val="EC6FA3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2093976"/>
            <a:ext cx="201168" cy="201168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7040880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Forecaster</a:t>
            </a:r>
            <a:endParaRPr lang="en-US" sz="1250" dirty="0"/>
          </a:p>
        </p:txBody>
      </p:sp>
      <p:sp>
        <p:nvSpPr>
          <p:cNvPr id="57" name="Text 49"/>
          <p:cNvSpPr txBox="1"/>
          <p:nvPr/>
        </p:nvSpPr>
        <p:spPr>
          <a:xfrm>
            <a:off x="6638544" y="239572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6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forecasting/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6638544" y="2615184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LightGBM: CPU and memory, 45 s and 210 s ahead</a:t>
            </a:r>
            <a:endParaRPr lang="en-US" sz="1050" dirty="0"/>
          </a:p>
        </p:txBody>
      </p:sp>
      <p:sp>
        <p:nvSpPr>
          <p:cNvPr id="59" name="Anomaly"/>
          <p:cNvSpPr/>
          <p:nvPr/>
        </p:nvSpPr>
        <p:spPr>
          <a:xfrm>
            <a:off x="6528816" y="3502152"/>
            <a:ext cx="1399032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6665976" y="3502152"/>
            <a:ext cx="1124712" cy="41148"/>
          </a:xfrm>
          <a:prstGeom prst="rect">
            <a:avLst/>
          </a:prstGeom>
          <a:solidFill>
            <a:srgbClr val="EC6FA3"/>
          </a:solidFill>
          <a:ln w="12700">
            <a:solidFill>
              <a:srgbClr val="EC6FA3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6638544" y="36301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C6FA3">
              <a:alpha val="18000"/>
            </a:srgbClr>
          </a:solidFill>
          <a:ln w="9525">
            <a:solidFill>
              <a:srgbClr val="EC6FA3"/>
            </a:solidFill>
            <a:prstDash val="solid"/>
          </a:ln>
        </p:spPr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3694176"/>
            <a:ext cx="201168" cy="201168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7040880" y="36301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Anomaly</a:t>
            </a:r>
            <a:endParaRPr lang="en-US" sz="1250" dirty="0"/>
          </a:p>
        </p:txBody>
      </p:sp>
      <p:sp>
        <p:nvSpPr>
          <p:cNvPr id="64" name="Text 55"/>
          <p:cNvSpPr txBox="1"/>
          <p:nvPr/>
        </p:nvSpPr>
        <p:spPr>
          <a:xfrm>
            <a:off x="6638544" y="399592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6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anomaly/</a:t>
            </a:r>
            <a:endParaRPr lang="en-US" sz="900" dirty="0"/>
          </a:p>
        </p:txBody>
      </p:sp>
      <p:sp>
        <p:nvSpPr>
          <p:cNvPr id="65" name="Text 56"/>
          <p:cNvSpPr txBox="1"/>
          <p:nvPr/>
        </p:nvSpPr>
        <p:spPr>
          <a:xfrm>
            <a:off x="6638544" y="4215384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Isolation Forest: how unusual is now? (0 to 1)</a:t>
            </a:r>
            <a:endParaRPr lang="en-US" sz="1050" dirty="0"/>
          </a:p>
        </p:txBody>
      </p:sp>
      <p:sp>
        <p:nvSpPr>
          <p:cNvPr id="66" name="Contention"/>
          <p:cNvSpPr/>
          <p:nvPr/>
        </p:nvSpPr>
        <p:spPr>
          <a:xfrm>
            <a:off x="8202168" y="1901952"/>
            <a:ext cx="1399032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8339328" y="1901952"/>
            <a:ext cx="1124712" cy="41148"/>
          </a:xfrm>
          <a:prstGeom prst="rect">
            <a:avLst/>
          </a:prstGeom>
          <a:solidFill>
            <a:srgbClr val="EC6FA3"/>
          </a:solidFill>
          <a:ln w="12700">
            <a:solidFill>
              <a:srgbClr val="EC6FA3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8311896" y="20299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C6FA3">
              <a:alpha val="18000"/>
            </a:srgbClr>
          </a:solidFill>
          <a:ln w="9525">
            <a:solidFill>
              <a:srgbClr val="EC6FA3"/>
            </a:solidFill>
            <a:prstDash val="solid"/>
          </a:ln>
        </p:spPr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2093976"/>
            <a:ext cx="201168" cy="201168"/>
          </a:xfrm>
          <a:prstGeom prst="rect">
            <a:avLst/>
          </a:prstGeom>
        </p:spPr>
      </p:pic>
      <p:sp>
        <p:nvSpPr>
          <p:cNvPr id="70" name="Text 60"/>
          <p:cNvSpPr txBox="1"/>
          <p:nvPr/>
        </p:nvSpPr>
        <p:spPr>
          <a:xfrm>
            <a:off x="8714232" y="20299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Contention</a:t>
            </a:r>
            <a:endParaRPr lang="en-US" sz="1250" dirty="0"/>
          </a:p>
        </p:txBody>
      </p:sp>
      <p:sp>
        <p:nvSpPr>
          <p:cNvPr id="71" name="Text 61"/>
          <p:cNvSpPr txBox="1"/>
          <p:nvPr/>
        </p:nvSpPr>
        <p:spPr>
          <a:xfrm>
            <a:off x="8311896" y="239572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6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contention/</a:t>
            </a:r>
            <a:endParaRPr lang="en-US" sz="900" dirty="0"/>
          </a:p>
        </p:txBody>
      </p:sp>
      <p:sp>
        <p:nvSpPr>
          <p:cNvPr id="72" name="Text 62"/>
          <p:cNvSpPr txBox="1"/>
          <p:nvPr/>
        </p:nvSpPr>
        <p:spPr>
          <a:xfrm>
            <a:off x="8311896" y="2615184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Logistic regression: probability of a slowdown</a:t>
            </a:r>
            <a:endParaRPr lang="en-US" sz="1050" dirty="0"/>
          </a:p>
        </p:txBody>
      </p:sp>
      <p:sp>
        <p:nvSpPr>
          <p:cNvPr id="73" name="Diagnosis"/>
          <p:cNvSpPr/>
          <p:nvPr/>
        </p:nvSpPr>
        <p:spPr>
          <a:xfrm>
            <a:off x="8202168" y="3502152"/>
            <a:ext cx="1399032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8339328" y="3502152"/>
            <a:ext cx="1124712" cy="41148"/>
          </a:xfrm>
          <a:prstGeom prst="rect">
            <a:avLst/>
          </a:prstGeom>
          <a:solidFill>
            <a:srgbClr val="EC6FA3"/>
          </a:solidFill>
          <a:ln w="12700">
            <a:solidFill>
              <a:srgbClr val="EC6FA3"/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8311896" y="36301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C6FA3">
              <a:alpha val="18000"/>
            </a:srgbClr>
          </a:solidFill>
          <a:ln w="9525">
            <a:solidFill>
              <a:srgbClr val="EC6FA3"/>
            </a:solidFill>
            <a:prstDash val="solid"/>
          </a:ln>
        </p:spPr>
      </p:sp>
      <p:pic>
        <p:nvPicPr>
          <p:cNvPr id="7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904" y="3694176"/>
            <a:ext cx="201168" cy="201168"/>
          </a:xfrm>
          <a:prstGeom prst="rect">
            <a:avLst/>
          </a:prstGeom>
        </p:spPr>
      </p:pic>
      <p:sp>
        <p:nvSpPr>
          <p:cNvPr id="77" name="Text 66"/>
          <p:cNvSpPr txBox="1"/>
          <p:nvPr/>
        </p:nvSpPr>
        <p:spPr>
          <a:xfrm>
            <a:off x="8714232" y="3630168"/>
            <a:ext cx="832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Diagnosis</a:t>
            </a:r>
            <a:endParaRPr lang="en-US" sz="1250" dirty="0"/>
          </a:p>
        </p:txBody>
      </p:sp>
      <p:sp>
        <p:nvSpPr>
          <p:cNvPr id="78" name="Text 67"/>
          <p:cNvSpPr txBox="1"/>
          <p:nvPr/>
        </p:nvSpPr>
        <p:spPr>
          <a:xfrm>
            <a:off x="8311896" y="399592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6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insight/</a:t>
            </a:r>
            <a:endParaRPr lang="en-US" sz="900" dirty="0"/>
          </a:p>
        </p:txBody>
      </p:sp>
      <p:sp>
        <p:nvSpPr>
          <p:cNvPr id="79" name="Text 68"/>
          <p:cNvSpPr txBox="1"/>
          <p:nvPr/>
        </p:nvSpPr>
        <p:spPr>
          <a:xfrm>
            <a:off x="8311896" y="4215384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Cause via SHAP, then 3 suggested actions</a:t>
            </a:r>
            <a:endParaRPr lang="en-US" sz="1050" dirty="0"/>
          </a:p>
        </p:txBody>
      </p:sp>
      <p:sp>
        <p:nvSpPr>
          <p:cNvPr id="80" name="Live loop"/>
          <p:cNvSpPr/>
          <p:nvPr/>
        </p:nvSpPr>
        <p:spPr>
          <a:xfrm>
            <a:off x="10131552" y="1901952"/>
            <a:ext cx="1490472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81" name="Shape 70"/>
          <p:cNvSpPr/>
          <p:nvPr/>
        </p:nvSpPr>
        <p:spPr>
          <a:xfrm>
            <a:off x="10268712" y="1901952"/>
            <a:ext cx="1216152" cy="41148"/>
          </a:xfrm>
          <a:prstGeom prst="rect">
            <a:avLst/>
          </a:prstGeom>
          <a:solidFill>
            <a:srgbClr val="33C7B8"/>
          </a:solidFill>
          <a:ln w="12700">
            <a:solidFill>
              <a:srgbClr val="33C7B8"/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10241280" y="20299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3C7B8">
              <a:alpha val="18000"/>
            </a:srgbClr>
          </a:solidFill>
          <a:ln w="9525">
            <a:solidFill>
              <a:srgbClr val="33C7B8"/>
            </a:solidFill>
            <a:prstDash val="solid"/>
          </a:ln>
        </p:spPr>
      </p:sp>
      <p:pic>
        <p:nvPicPr>
          <p:cNvPr id="8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5288" y="2093976"/>
            <a:ext cx="201168" cy="201168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10643616" y="2029968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Live loop</a:t>
            </a:r>
            <a:endParaRPr lang="en-US" sz="1250" dirty="0"/>
          </a:p>
        </p:txBody>
      </p:sp>
      <p:sp>
        <p:nvSpPr>
          <p:cNvPr id="85" name="Text 73"/>
          <p:cNvSpPr txBox="1"/>
          <p:nvPr/>
        </p:nvSpPr>
        <p:spPr>
          <a:xfrm>
            <a:off x="10241280" y="2395728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live_state.py</a:t>
            </a:r>
            <a:endParaRPr lang="en-US" sz="900" dirty="0"/>
          </a:p>
        </p:txBody>
      </p:sp>
      <p:sp>
        <p:nvSpPr>
          <p:cNvPr id="86" name="Text 74"/>
          <p:cNvSpPr txBox="1"/>
          <p:nvPr/>
        </p:nvSpPr>
        <p:spPr>
          <a:xfrm>
            <a:off x="10241280" y="2615184"/>
            <a:ext cx="12893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Runs steps 3–6 every 5 s on its own thread</a:t>
            </a:r>
            <a:endParaRPr lang="en-US" sz="1050" dirty="0"/>
          </a:p>
        </p:txBody>
      </p:sp>
      <p:sp>
        <p:nvSpPr>
          <p:cNvPr id="87" name="Dashboard"/>
          <p:cNvSpPr/>
          <p:nvPr/>
        </p:nvSpPr>
        <p:spPr>
          <a:xfrm>
            <a:off x="10131552" y="3502152"/>
            <a:ext cx="1490472" cy="1325880"/>
          </a:xfrm>
          <a:prstGeom prst="roundRect">
            <a:avLst>
              <a:gd name="adj" fmla="val 5517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88" name="Shape 76"/>
          <p:cNvSpPr/>
          <p:nvPr/>
        </p:nvSpPr>
        <p:spPr>
          <a:xfrm>
            <a:off x="10268712" y="3502152"/>
            <a:ext cx="1216152" cy="41148"/>
          </a:xfrm>
          <a:prstGeom prst="rect">
            <a:avLst/>
          </a:prstGeom>
          <a:solidFill>
            <a:srgbClr val="33C7B8"/>
          </a:solidFill>
          <a:ln w="12700">
            <a:solidFill>
              <a:srgbClr val="33C7B8"/>
            </a:solidFill>
            <a:prstDash val="solid"/>
          </a:ln>
        </p:spPr>
      </p:sp>
      <p:sp>
        <p:nvSpPr>
          <p:cNvPr id="89" name="Shape 77"/>
          <p:cNvSpPr/>
          <p:nvPr/>
        </p:nvSpPr>
        <p:spPr>
          <a:xfrm>
            <a:off x="10241280" y="36301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3C7B8">
              <a:alpha val="18000"/>
            </a:srgbClr>
          </a:solidFill>
          <a:ln w="9525">
            <a:solidFill>
              <a:srgbClr val="33C7B8"/>
            </a:solidFill>
            <a:prstDash val="solid"/>
          </a:ln>
        </p:spPr>
      </p:sp>
      <p:pic>
        <p:nvPicPr>
          <p:cNvPr id="9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5288" y="3694176"/>
            <a:ext cx="201168" cy="201168"/>
          </a:xfrm>
          <a:prstGeom prst="rect">
            <a:avLst/>
          </a:prstGeom>
        </p:spPr>
      </p:pic>
      <p:sp>
        <p:nvSpPr>
          <p:cNvPr id="91" name="Text 78"/>
          <p:cNvSpPr txBox="1"/>
          <p:nvPr/>
        </p:nvSpPr>
        <p:spPr>
          <a:xfrm>
            <a:off x="10643616" y="3630168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Dashboard</a:t>
            </a:r>
            <a:endParaRPr lang="en-US" sz="1250" dirty="0"/>
          </a:p>
        </p:txBody>
      </p:sp>
      <p:sp>
        <p:nvSpPr>
          <p:cNvPr id="92" name="Text 79"/>
          <p:cNvSpPr txBox="1"/>
          <p:nvPr/>
        </p:nvSpPr>
        <p:spPr>
          <a:xfrm>
            <a:off x="10241280" y="3995928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 + web/</a:t>
            </a:r>
            <a:endParaRPr lang="en-US" sz="900" dirty="0"/>
          </a:p>
        </p:txBody>
      </p:sp>
      <p:sp>
        <p:nvSpPr>
          <p:cNvPr id="93" name="Text 80"/>
          <p:cNvSpPr txBox="1"/>
          <p:nvPr/>
        </p:nvSpPr>
        <p:spPr>
          <a:xfrm>
            <a:off x="10241280" y="4215384"/>
            <a:ext cx="12893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FastAPI pushes results to the browser over a WebSocket</a:t>
            </a:r>
            <a:endParaRPr lang="en-US" sz="1050" dirty="0"/>
          </a:p>
        </p:txBody>
      </p:sp>
      <p:sp>
        <p:nvSpPr>
          <p:cNvPr id="94" name="Shape 81"/>
          <p:cNvSpPr/>
          <p:nvPr/>
        </p:nvSpPr>
        <p:spPr>
          <a:xfrm>
            <a:off x="1280160" y="3227832"/>
            <a:ext cx="0" cy="27432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</a:ln>
        </p:spPr>
      </p:sp>
      <p:sp>
        <p:nvSpPr>
          <p:cNvPr id="95" name="Shape 82"/>
          <p:cNvSpPr/>
          <p:nvPr/>
        </p:nvSpPr>
        <p:spPr>
          <a:xfrm>
            <a:off x="1124712" y="3209544"/>
            <a:ext cx="310896" cy="310896"/>
          </a:xfrm>
          <a:prstGeom prst="ellipse">
            <a:avLst/>
          </a:prstGeom>
          <a:solidFill>
            <a:srgbClr val="F6C344"/>
          </a:solidFill>
          <a:ln w="12700">
            <a:solidFill>
              <a:srgbClr val="F6C344"/>
            </a:solidFill>
            <a:prstDash val="solid"/>
          </a:ln>
        </p:spPr>
      </p:sp>
      <p:sp>
        <p:nvSpPr>
          <p:cNvPr id="96" name="Text 83"/>
          <p:cNvSpPr txBox="1"/>
          <p:nvPr/>
        </p:nvSpPr>
        <p:spPr>
          <a:xfrm>
            <a:off x="1124712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1</a:t>
            </a:r>
            <a:endParaRPr lang="en-US" sz="1400" dirty="0"/>
          </a:p>
        </p:txBody>
      </p:sp>
      <p:sp>
        <p:nvSpPr>
          <p:cNvPr id="97" name="Shape 84"/>
          <p:cNvSpPr/>
          <p:nvPr/>
        </p:nvSpPr>
        <p:spPr>
          <a:xfrm>
            <a:off x="1993392" y="4165092"/>
            <a:ext cx="530352" cy="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  <a:tailEnd type="triangle"/>
          </a:ln>
        </p:spPr>
      </p:sp>
      <p:sp>
        <p:nvSpPr>
          <p:cNvPr id="98" name="Shape 85"/>
          <p:cNvSpPr/>
          <p:nvPr/>
        </p:nvSpPr>
        <p:spPr>
          <a:xfrm>
            <a:off x="2103120" y="4009644"/>
            <a:ext cx="310896" cy="310896"/>
          </a:xfrm>
          <a:prstGeom prst="ellipse">
            <a:avLst/>
          </a:prstGeom>
          <a:solidFill>
            <a:srgbClr val="F6C344"/>
          </a:solidFill>
          <a:ln w="12700">
            <a:solidFill>
              <a:srgbClr val="F6C344"/>
            </a:solidFill>
            <a:prstDash val="solid"/>
          </a:ln>
        </p:spPr>
      </p:sp>
      <p:sp>
        <p:nvSpPr>
          <p:cNvPr id="99" name="Text 86"/>
          <p:cNvSpPr txBox="1"/>
          <p:nvPr/>
        </p:nvSpPr>
        <p:spPr>
          <a:xfrm>
            <a:off x="2103120" y="4009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2</a:t>
            </a:r>
            <a:endParaRPr lang="en-US" sz="1400" dirty="0"/>
          </a:p>
        </p:txBody>
      </p:sp>
      <p:sp>
        <p:nvSpPr>
          <p:cNvPr id="100" name="Shape 87"/>
          <p:cNvSpPr/>
          <p:nvPr/>
        </p:nvSpPr>
        <p:spPr>
          <a:xfrm flipV="1">
            <a:off x="3191256" y="3131820"/>
            <a:ext cx="0" cy="370332"/>
          </a:xfrm>
          <a:prstGeom prst="line">
            <a:avLst/>
          </a:prstGeom>
          <a:noFill/>
          <a:ln w="15875">
            <a:solidFill>
              <a:srgbClr val="E6EBF5"/>
            </a:solidFill>
            <a:prstDash val="solid"/>
            <a:tailEnd type="triangle"/>
          </a:ln>
        </p:spPr>
      </p:sp>
      <p:sp>
        <p:nvSpPr>
          <p:cNvPr id="101" name="Text 88"/>
          <p:cNvSpPr txBox="1"/>
          <p:nvPr/>
        </p:nvSpPr>
        <p:spPr>
          <a:xfrm>
            <a:off x="3264408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BA6"/>
                </a:solidFill>
              </a:rPr>
              <a:t>writes</a:t>
            </a:r>
            <a:endParaRPr lang="en-US" sz="900" dirty="0"/>
          </a:p>
        </p:txBody>
      </p:sp>
      <p:sp>
        <p:nvSpPr>
          <p:cNvPr id="102" name="Shape 89"/>
          <p:cNvSpPr/>
          <p:nvPr/>
        </p:nvSpPr>
        <p:spPr>
          <a:xfrm>
            <a:off x="3648456" y="2564892"/>
            <a:ext cx="740664" cy="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  <a:tailEnd type="triangle"/>
          </a:ln>
        </p:spPr>
      </p:sp>
      <p:sp>
        <p:nvSpPr>
          <p:cNvPr id="103" name="Shape 90"/>
          <p:cNvSpPr/>
          <p:nvPr/>
        </p:nvSpPr>
        <p:spPr>
          <a:xfrm>
            <a:off x="3968496" y="2409444"/>
            <a:ext cx="310896" cy="310896"/>
          </a:xfrm>
          <a:prstGeom prst="ellipse">
            <a:avLst/>
          </a:prstGeom>
          <a:solidFill>
            <a:srgbClr val="F6C344"/>
          </a:solidFill>
          <a:ln w="12700">
            <a:solidFill>
              <a:srgbClr val="F6C344"/>
            </a:solidFill>
            <a:prstDash val="solid"/>
          </a:ln>
        </p:spPr>
      </p:sp>
      <p:sp>
        <p:nvSpPr>
          <p:cNvPr id="104" name="Text 91"/>
          <p:cNvSpPr txBox="1"/>
          <p:nvPr/>
        </p:nvSpPr>
        <p:spPr>
          <a:xfrm>
            <a:off x="3968496" y="24094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3</a:t>
            </a:r>
            <a:endParaRPr lang="en-US" sz="1400" dirty="0"/>
          </a:p>
        </p:txBody>
      </p:sp>
      <p:sp>
        <p:nvSpPr>
          <p:cNvPr id="105" name="Shape 92"/>
          <p:cNvSpPr/>
          <p:nvPr/>
        </p:nvSpPr>
        <p:spPr>
          <a:xfrm>
            <a:off x="5193792" y="3227832"/>
            <a:ext cx="0" cy="274320"/>
          </a:xfrm>
          <a:prstGeom prst="line">
            <a:avLst/>
          </a:prstGeom>
          <a:noFill/>
          <a:ln w="15875">
            <a:solidFill>
              <a:srgbClr val="8F9BB8"/>
            </a:solidFill>
            <a:prstDash val="dash"/>
          </a:ln>
        </p:spPr>
      </p:sp>
      <p:sp>
        <p:nvSpPr>
          <p:cNvPr id="106" name="Shape 93"/>
          <p:cNvSpPr/>
          <p:nvPr/>
        </p:nvSpPr>
        <p:spPr>
          <a:xfrm>
            <a:off x="5998464" y="2564892"/>
            <a:ext cx="530352" cy="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  <a:tailEnd type="triangle"/>
          </a:ln>
        </p:spPr>
      </p:sp>
      <p:sp>
        <p:nvSpPr>
          <p:cNvPr id="107" name="Shape 94"/>
          <p:cNvSpPr/>
          <p:nvPr/>
        </p:nvSpPr>
        <p:spPr>
          <a:xfrm>
            <a:off x="6263640" y="2564892"/>
            <a:ext cx="0" cy="160020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</a:ln>
        </p:spPr>
      </p:sp>
      <p:sp>
        <p:nvSpPr>
          <p:cNvPr id="108" name="Shape 95"/>
          <p:cNvSpPr/>
          <p:nvPr/>
        </p:nvSpPr>
        <p:spPr>
          <a:xfrm>
            <a:off x="6263640" y="4165092"/>
            <a:ext cx="265176" cy="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  <a:tailEnd type="triangle"/>
          </a:ln>
        </p:spPr>
      </p:sp>
      <p:sp>
        <p:nvSpPr>
          <p:cNvPr id="109" name="Shape 96"/>
          <p:cNvSpPr/>
          <p:nvPr/>
        </p:nvSpPr>
        <p:spPr>
          <a:xfrm>
            <a:off x="6108192" y="2409444"/>
            <a:ext cx="310896" cy="310896"/>
          </a:xfrm>
          <a:prstGeom prst="ellipse">
            <a:avLst/>
          </a:prstGeom>
          <a:solidFill>
            <a:srgbClr val="F6C344"/>
          </a:solidFill>
          <a:ln w="12700">
            <a:solidFill>
              <a:srgbClr val="F6C344"/>
            </a:solidFill>
            <a:prstDash val="solid"/>
          </a:ln>
        </p:spPr>
      </p:sp>
      <p:sp>
        <p:nvSpPr>
          <p:cNvPr id="110" name="Text 97"/>
          <p:cNvSpPr txBox="1"/>
          <p:nvPr/>
        </p:nvSpPr>
        <p:spPr>
          <a:xfrm>
            <a:off x="6108192" y="24094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4</a:t>
            </a:r>
            <a:endParaRPr lang="en-US" sz="1400" dirty="0"/>
          </a:p>
        </p:txBody>
      </p:sp>
      <p:sp>
        <p:nvSpPr>
          <p:cNvPr id="111" name="Shape 98"/>
          <p:cNvSpPr/>
          <p:nvPr/>
        </p:nvSpPr>
        <p:spPr>
          <a:xfrm>
            <a:off x="7927848" y="2564892"/>
            <a:ext cx="274320" cy="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  <a:tailEnd type="triangle"/>
          </a:ln>
        </p:spPr>
      </p:sp>
      <p:sp>
        <p:nvSpPr>
          <p:cNvPr id="112" name="Shape 99"/>
          <p:cNvSpPr/>
          <p:nvPr/>
        </p:nvSpPr>
        <p:spPr>
          <a:xfrm>
            <a:off x="7927848" y="4165092"/>
            <a:ext cx="137160" cy="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</a:ln>
        </p:spPr>
      </p:sp>
      <p:sp>
        <p:nvSpPr>
          <p:cNvPr id="113" name="Shape 100"/>
          <p:cNvSpPr/>
          <p:nvPr/>
        </p:nvSpPr>
        <p:spPr>
          <a:xfrm flipV="1">
            <a:off x="8065008" y="2999232"/>
            <a:ext cx="0" cy="116586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</a:ln>
        </p:spPr>
      </p:sp>
      <p:sp>
        <p:nvSpPr>
          <p:cNvPr id="114" name="Shape 101"/>
          <p:cNvSpPr/>
          <p:nvPr/>
        </p:nvSpPr>
        <p:spPr>
          <a:xfrm>
            <a:off x="8065008" y="2999232"/>
            <a:ext cx="137160" cy="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  <a:tailEnd type="triangle"/>
          </a:ln>
        </p:spPr>
      </p:sp>
      <p:sp>
        <p:nvSpPr>
          <p:cNvPr id="115" name="Shape 102"/>
          <p:cNvSpPr/>
          <p:nvPr/>
        </p:nvSpPr>
        <p:spPr>
          <a:xfrm>
            <a:off x="7909560" y="2409444"/>
            <a:ext cx="310896" cy="310896"/>
          </a:xfrm>
          <a:prstGeom prst="ellipse">
            <a:avLst/>
          </a:prstGeom>
          <a:solidFill>
            <a:srgbClr val="F6C344"/>
          </a:solidFill>
          <a:ln w="12700">
            <a:solidFill>
              <a:srgbClr val="F6C344"/>
            </a:solidFill>
            <a:prstDash val="solid"/>
          </a:ln>
        </p:spPr>
      </p:sp>
      <p:sp>
        <p:nvSpPr>
          <p:cNvPr id="116" name="Text 103"/>
          <p:cNvSpPr txBox="1"/>
          <p:nvPr/>
        </p:nvSpPr>
        <p:spPr>
          <a:xfrm>
            <a:off x="7909560" y="24094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5</a:t>
            </a:r>
            <a:endParaRPr lang="en-US" sz="1400" dirty="0"/>
          </a:p>
        </p:txBody>
      </p:sp>
      <p:sp>
        <p:nvSpPr>
          <p:cNvPr id="117" name="Shape 104"/>
          <p:cNvSpPr/>
          <p:nvPr/>
        </p:nvSpPr>
        <p:spPr>
          <a:xfrm>
            <a:off x="8901684" y="3227832"/>
            <a:ext cx="0" cy="27432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</a:ln>
        </p:spPr>
      </p:sp>
      <p:sp>
        <p:nvSpPr>
          <p:cNvPr id="118" name="Shape 105"/>
          <p:cNvSpPr/>
          <p:nvPr/>
        </p:nvSpPr>
        <p:spPr>
          <a:xfrm>
            <a:off x="8746236" y="3209544"/>
            <a:ext cx="310896" cy="310896"/>
          </a:xfrm>
          <a:prstGeom prst="ellipse">
            <a:avLst/>
          </a:prstGeom>
          <a:solidFill>
            <a:srgbClr val="F6C344"/>
          </a:solidFill>
          <a:ln w="12700">
            <a:solidFill>
              <a:srgbClr val="F6C344"/>
            </a:solidFill>
            <a:prstDash val="solid"/>
          </a:ln>
        </p:spPr>
      </p:sp>
      <p:sp>
        <p:nvSpPr>
          <p:cNvPr id="119" name="Text 106"/>
          <p:cNvSpPr txBox="1"/>
          <p:nvPr/>
        </p:nvSpPr>
        <p:spPr>
          <a:xfrm>
            <a:off x="8746236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6</a:t>
            </a:r>
            <a:endParaRPr lang="en-US" sz="1400" dirty="0"/>
          </a:p>
        </p:txBody>
      </p:sp>
      <p:sp>
        <p:nvSpPr>
          <p:cNvPr id="120" name="Text 107"/>
          <p:cNvSpPr txBox="1"/>
          <p:nvPr/>
        </p:nvSpPr>
        <p:spPr>
          <a:xfrm>
            <a:off x="9102852" y="32552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C6FA3"/>
                </a:solidFill>
              </a:rPr>
              <a:t>if risk is high</a:t>
            </a:r>
            <a:endParaRPr lang="en-US" sz="950" dirty="0"/>
          </a:p>
        </p:txBody>
      </p:sp>
      <p:sp>
        <p:nvSpPr>
          <p:cNvPr id="121" name="Shape 108"/>
          <p:cNvSpPr/>
          <p:nvPr/>
        </p:nvSpPr>
        <p:spPr>
          <a:xfrm flipH="1">
            <a:off x="9601200" y="2564892"/>
            <a:ext cx="530352" cy="0"/>
          </a:xfrm>
          <a:prstGeom prst="line">
            <a:avLst/>
          </a:prstGeom>
          <a:noFill/>
          <a:ln w="15875">
            <a:solidFill>
              <a:srgbClr val="8F9BB8"/>
            </a:solidFill>
            <a:prstDash val="dash"/>
            <a:tailEnd type="triangle"/>
          </a:ln>
        </p:spPr>
      </p:sp>
      <p:sp>
        <p:nvSpPr>
          <p:cNvPr id="122" name="Text 109"/>
          <p:cNvSpPr txBox="1"/>
          <p:nvPr/>
        </p:nvSpPr>
        <p:spPr>
          <a:xfrm>
            <a:off x="9692640" y="22905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BA6"/>
                </a:solidFill>
              </a:rPr>
              <a:t>drives 3–6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9601200" y="4165092"/>
            <a:ext cx="530352" cy="0"/>
          </a:xfrm>
          <a:prstGeom prst="line">
            <a:avLst/>
          </a:prstGeom>
          <a:noFill/>
          <a:ln w="25400">
            <a:solidFill>
              <a:srgbClr val="F6C344"/>
            </a:solidFill>
            <a:prstDash val="solid"/>
            <a:tailEnd type="triangle"/>
          </a:ln>
        </p:spPr>
      </p:sp>
      <p:sp>
        <p:nvSpPr>
          <p:cNvPr id="124" name="Shape 111"/>
          <p:cNvSpPr/>
          <p:nvPr/>
        </p:nvSpPr>
        <p:spPr>
          <a:xfrm>
            <a:off x="9710928" y="4009644"/>
            <a:ext cx="310896" cy="310896"/>
          </a:xfrm>
          <a:prstGeom prst="ellipse">
            <a:avLst/>
          </a:prstGeom>
          <a:solidFill>
            <a:srgbClr val="F6C344"/>
          </a:solidFill>
          <a:ln w="12700">
            <a:solidFill>
              <a:srgbClr val="F6C344"/>
            </a:solidFill>
            <a:prstDash val="solid"/>
          </a:ln>
        </p:spPr>
      </p:sp>
      <p:sp>
        <p:nvSpPr>
          <p:cNvPr id="125" name="Text 112"/>
          <p:cNvSpPr txBox="1"/>
          <p:nvPr/>
        </p:nvSpPr>
        <p:spPr>
          <a:xfrm>
            <a:off x="9710928" y="4009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33"/>
                </a:solidFill>
              </a:rPr>
              <a:t>7</a:t>
            </a:r>
            <a:endParaRPr lang="en-US" sz="1400" dirty="0"/>
          </a:p>
        </p:txBody>
      </p:sp>
      <p:sp>
        <p:nvSpPr>
          <p:cNvPr id="126" name="legend"/>
          <p:cNvSpPr/>
          <p:nvPr/>
        </p:nvSpPr>
        <p:spPr>
          <a:xfrm>
            <a:off x="457200" y="5212080"/>
            <a:ext cx="3511296" cy="914400"/>
          </a:xfrm>
          <a:prstGeom prst="roundRect">
            <a:avLst>
              <a:gd name="adj" fmla="val 8000"/>
            </a:avLst>
          </a:prstGeom>
          <a:solidFill>
            <a:srgbClr val="152040"/>
          </a:solidFill>
          <a:ln w="9525">
            <a:solidFill>
              <a:srgbClr val="25345C"/>
            </a:solidFill>
            <a:prstDash val="solid"/>
          </a:ln>
        </p:spPr>
      </p:sp>
      <p:sp>
        <p:nvSpPr>
          <p:cNvPr id="127" name="Text 114"/>
          <p:cNvSpPr txBox="1"/>
          <p:nvPr/>
        </p:nvSpPr>
        <p:spPr>
          <a:xfrm>
            <a:off x="594360" y="5285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F8BA6"/>
                </a:solidFill>
              </a:rPr>
              <a:t>LEGEND</a:t>
            </a:r>
            <a:endParaRPr lang="en-US" sz="900" dirty="0"/>
          </a:p>
        </p:txBody>
      </p:sp>
      <p:sp>
        <p:nvSpPr>
          <p:cNvPr id="128" name="Shape 115"/>
          <p:cNvSpPr/>
          <p:nvPr/>
        </p:nvSpPr>
        <p:spPr>
          <a:xfrm>
            <a:off x="640080" y="5596128"/>
            <a:ext cx="502920" cy="0"/>
          </a:xfrm>
          <a:prstGeom prst="line">
            <a:avLst/>
          </a:prstGeom>
          <a:noFill/>
          <a:ln w="22225">
            <a:solidFill>
              <a:srgbClr val="E6EBF5"/>
            </a:solidFill>
            <a:prstDash val="solid"/>
          </a:ln>
        </p:spPr>
      </p:sp>
      <p:sp>
        <p:nvSpPr>
          <p:cNvPr id="129" name="Text 116"/>
          <p:cNvSpPr txBox="1"/>
          <p:nvPr/>
        </p:nvSpPr>
        <p:spPr>
          <a:xfrm>
            <a:off x="1261872" y="5504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FD6"/>
                </a:solidFill>
              </a:rPr>
              <a:t>main path of one sample</a:t>
            </a:r>
            <a:endParaRPr lang="en-US" sz="1000" dirty="0"/>
          </a:p>
        </p:txBody>
      </p:sp>
      <p:sp>
        <p:nvSpPr>
          <p:cNvPr id="130" name="Shape 117"/>
          <p:cNvSpPr/>
          <p:nvPr/>
        </p:nvSpPr>
        <p:spPr>
          <a:xfrm>
            <a:off x="640080" y="5779008"/>
            <a:ext cx="502920" cy="0"/>
          </a:xfrm>
          <a:prstGeom prst="line">
            <a:avLst/>
          </a:prstGeom>
          <a:noFill/>
          <a:ln w="22225">
            <a:solidFill>
              <a:srgbClr val="F6C344"/>
            </a:solidFill>
            <a:prstDash val="solid"/>
          </a:ln>
        </p:spPr>
      </p:sp>
      <p:sp>
        <p:nvSpPr>
          <p:cNvPr id="131" name="Text 118"/>
          <p:cNvSpPr txBox="1"/>
          <p:nvPr/>
        </p:nvSpPr>
        <p:spPr>
          <a:xfrm>
            <a:off x="1261872" y="56875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FD6"/>
                </a:solidFill>
              </a:rPr>
              <a:t>result going to the user</a:t>
            </a:r>
            <a:endParaRPr lang="en-US" sz="1000" dirty="0"/>
          </a:p>
        </p:txBody>
      </p:sp>
      <p:sp>
        <p:nvSpPr>
          <p:cNvPr id="132" name="Shape 119"/>
          <p:cNvSpPr/>
          <p:nvPr/>
        </p:nvSpPr>
        <p:spPr>
          <a:xfrm>
            <a:off x="640080" y="5961888"/>
            <a:ext cx="502920" cy="0"/>
          </a:xfrm>
          <a:prstGeom prst="line">
            <a:avLst/>
          </a:prstGeom>
          <a:noFill/>
          <a:ln w="22225">
            <a:solidFill>
              <a:srgbClr val="8F9BB8"/>
            </a:solidFill>
            <a:prstDash val="dash"/>
          </a:ln>
        </p:spPr>
      </p:sp>
      <p:sp>
        <p:nvSpPr>
          <p:cNvPr id="133" name="Text 120"/>
          <p:cNvSpPr txBox="1"/>
          <p:nvPr/>
        </p:nvSpPr>
        <p:spPr>
          <a:xfrm>
            <a:off x="1261872" y="58704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FD6"/>
                </a:solidFill>
              </a:rPr>
              <a:t>helpers: orchestrate, train, compare</a:t>
            </a:r>
            <a:endParaRPr lang="en-US" sz="1000" dirty="0"/>
          </a:p>
        </p:txBody>
      </p:sp>
      <p:sp>
        <p:nvSpPr>
          <p:cNvPr id="134" name="Comparison"/>
          <p:cNvSpPr/>
          <p:nvPr/>
        </p:nvSpPr>
        <p:spPr>
          <a:xfrm>
            <a:off x="4279392" y="52120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4416552" y="5212080"/>
            <a:ext cx="1554480" cy="41148"/>
          </a:xfrm>
          <a:prstGeom prst="rect">
            <a:avLst/>
          </a:prstGeom>
          <a:solidFill>
            <a:srgbClr val="5AB0E6"/>
          </a:solidFill>
          <a:ln w="12700">
            <a:solidFill>
              <a:srgbClr val="5AB0E6"/>
            </a:solidFill>
            <a:prstDash val="solid"/>
          </a:ln>
        </p:spPr>
      </p:sp>
      <p:pic>
        <p:nvPicPr>
          <p:cNvPr id="1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7408" y="5340096"/>
            <a:ext cx="201168" cy="201168"/>
          </a:xfrm>
          <a:prstGeom prst="rect">
            <a:avLst/>
          </a:prstGeom>
        </p:spPr>
      </p:pic>
      <p:sp>
        <p:nvSpPr>
          <p:cNvPr id="137" name="Text 123"/>
          <p:cNvSpPr txBox="1"/>
          <p:nvPr/>
        </p:nvSpPr>
        <p:spPr>
          <a:xfrm>
            <a:off x="4700016" y="5321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Comparison  </a:t>
            </a:r>
            <a:pPr indent="0" marL="0">
              <a:buNone/>
            </a:pPr>
            <a:r>
              <a:rPr lang="en-US" sz="900" dirty="0">
                <a:solidFill>
                  <a:srgbClr val="5AB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</a:t>
            </a:r>
            <a:endParaRPr lang="en-US" sz="1200" dirty="0"/>
          </a:p>
        </p:txBody>
      </p:sp>
      <p:sp>
        <p:nvSpPr>
          <p:cNvPr id="138" name="Text 124"/>
          <p:cNvSpPr txBox="1"/>
          <p:nvPr/>
        </p:nvSpPr>
        <p:spPr>
          <a:xfrm>
            <a:off x="4407408" y="5632704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LightGBM vs Random Forest vs Ridge</a:t>
            </a:r>
            <a:endParaRPr lang="en-US" sz="1050" dirty="0"/>
          </a:p>
        </p:txBody>
      </p:sp>
      <p:sp>
        <p:nvSpPr>
          <p:cNvPr id="139" name="Shape 125"/>
          <p:cNvSpPr/>
          <p:nvPr/>
        </p:nvSpPr>
        <p:spPr>
          <a:xfrm flipV="1">
            <a:off x="5193792" y="4937760"/>
            <a:ext cx="0" cy="274320"/>
          </a:xfrm>
          <a:prstGeom prst="line">
            <a:avLst/>
          </a:prstGeom>
          <a:noFill/>
          <a:ln w="15875">
            <a:solidFill>
              <a:srgbClr val="8F9BB8"/>
            </a:solidFill>
            <a:prstDash val="dash"/>
          </a:ln>
        </p:spPr>
      </p:sp>
      <p:sp>
        <p:nvSpPr>
          <p:cNvPr id="140" name="Model lifecycle"/>
          <p:cNvSpPr/>
          <p:nvPr/>
        </p:nvSpPr>
        <p:spPr>
          <a:xfrm>
            <a:off x="6419088" y="52120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141" name="Shape 127"/>
          <p:cNvSpPr/>
          <p:nvPr/>
        </p:nvSpPr>
        <p:spPr>
          <a:xfrm>
            <a:off x="6556248" y="5212080"/>
            <a:ext cx="3017520" cy="4114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7104" y="5340096"/>
            <a:ext cx="201168" cy="201168"/>
          </a:xfrm>
          <a:prstGeom prst="rect">
            <a:avLst/>
          </a:prstGeom>
        </p:spPr>
      </p:pic>
      <p:sp>
        <p:nvSpPr>
          <p:cNvPr id="143" name="Text 128"/>
          <p:cNvSpPr txBox="1"/>
          <p:nvPr/>
        </p:nvSpPr>
        <p:spPr>
          <a:xfrm>
            <a:off x="6839712" y="53218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lifecycle  </a:t>
            </a:r>
            <a:pPr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lifecycle/</a:t>
            </a:r>
            <a:endParaRPr lang="en-US" sz="1200" dirty="0"/>
          </a:p>
        </p:txBody>
      </p:sp>
      <p:sp>
        <p:nvSpPr>
          <p:cNvPr id="144" name="Text 129"/>
          <p:cNvSpPr txBox="1"/>
          <p:nvPr/>
        </p:nvSpPr>
        <p:spPr>
          <a:xfrm>
            <a:off x="6547104" y="5632704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Retrain offline → beat best baseline by 5 % → operator confirms → versioned deploy, rollback</a:t>
            </a:r>
            <a:endParaRPr lang="en-US" sz="1050" dirty="0"/>
          </a:p>
        </p:txBody>
      </p:sp>
      <p:sp>
        <p:nvSpPr>
          <p:cNvPr id="145" name="Shape 130"/>
          <p:cNvSpPr/>
          <p:nvPr/>
        </p:nvSpPr>
        <p:spPr>
          <a:xfrm flipV="1">
            <a:off x="7228332" y="4937760"/>
            <a:ext cx="0" cy="274320"/>
          </a:xfrm>
          <a:prstGeom prst="line">
            <a:avLst/>
          </a:prstGeom>
          <a:noFill/>
          <a:ln w="15875">
            <a:solidFill>
              <a:srgbClr val="8F9BB8"/>
            </a:solidFill>
            <a:prstDash val="dash"/>
            <a:tailEnd type="triangle"/>
          </a:ln>
        </p:spPr>
      </p:sp>
      <p:sp>
        <p:nvSpPr>
          <p:cNvPr id="146" name="CLI"/>
          <p:cNvSpPr/>
          <p:nvPr/>
        </p:nvSpPr>
        <p:spPr>
          <a:xfrm>
            <a:off x="10021824" y="5212080"/>
            <a:ext cx="1709928" cy="914400"/>
          </a:xfrm>
          <a:prstGeom prst="roundRect">
            <a:avLst>
              <a:gd name="adj" fmla="val 8000"/>
            </a:avLst>
          </a:prstGeom>
          <a:solidFill>
            <a:srgbClr val="1C2A4E"/>
          </a:solidFill>
          <a:ln w="9525">
            <a:solidFill>
              <a:srgbClr val="2E406E"/>
            </a:solidFill>
            <a:prstDash val="solid"/>
          </a:ln>
        </p:spPr>
      </p:sp>
      <p:sp>
        <p:nvSpPr>
          <p:cNvPr id="147" name="Shape 132"/>
          <p:cNvSpPr/>
          <p:nvPr/>
        </p:nvSpPr>
        <p:spPr>
          <a:xfrm>
            <a:off x="10158984" y="5212080"/>
            <a:ext cx="1435608" cy="41148"/>
          </a:xfrm>
          <a:prstGeom prst="rect">
            <a:avLst/>
          </a:prstGeom>
          <a:solidFill>
            <a:srgbClr val="33C7B8"/>
          </a:solidFill>
          <a:ln w="12700">
            <a:solidFill>
              <a:srgbClr val="33C7B8"/>
            </a:solidFill>
            <a:prstDash val="solid"/>
          </a:ln>
        </p:spPr>
      </p:sp>
      <p:pic>
        <p:nvPicPr>
          <p:cNvPr id="1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49840" y="5340096"/>
            <a:ext cx="201168" cy="201168"/>
          </a:xfrm>
          <a:prstGeom prst="rect">
            <a:avLst/>
          </a:prstGeom>
        </p:spPr>
      </p:pic>
      <p:sp>
        <p:nvSpPr>
          <p:cNvPr id="149" name="Text 133"/>
          <p:cNvSpPr txBox="1"/>
          <p:nvPr/>
        </p:nvSpPr>
        <p:spPr>
          <a:xfrm>
            <a:off x="10442448" y="53218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  </a:t>
            </a:r>
            <a:pPr indent="0" marL="0">
              <a:buNone/>
            </a:pPr>
            <a:r>
              <a:rPr lang="en-US" sz="900" dirty="0">
                <a:solidFill>
                  <a:srgbClr val="33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cli.py</a:t>
            </a:r>
            <a:endParaRPr lang="en-US" sz="1200" dirty="0"/>
          </a:p>
        </p:txBody>
      </p:sp>
      <p:sp>
        <p:nvSpPr>
          <p:cNvPr id="150" name="Text 134"/>
          <p:cNvSpPr txBox="1"/>
          <p:nvPr/>
        </p:nvSpPr>
        <p:spPr>
          <a:xfrm>
            <a:off x="10149840" y="5632704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BFD6"/>
                </a:solidFill>
              </a:rPr>
              <a:t>run · train · compare · replay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F8B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time-series features, built without look-ahead</a:t>
            </a:r>
            <a:endParaRPr lang="en-US" sz="3200" dirty="0"/>
          </a:p>
        </p:txBody>
      </p:sp>
      <p:sp>
        <p:nvSpPr>
          <p:cNvPr id="4" name="Table 1 caption"/>
          <p:cNvSpPr txBox="1"/>
          <p:nvPr/>
        </p:nvSpPr>
        <p:spPr>
          <a:xfrm>
            <a:off x="548640" y="14173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Table 1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254 features per sample, by technique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514600"/>
                <a:gridCol w="731520"/>
                <a:gridCol w="192024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 group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Technique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value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raw observation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CPU % at time 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 features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lagged observations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value 30 s and 120 s ago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Rate of change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first difference ÷ Δt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slope per second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Rolling statistics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sliding-window mean, std, min, max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 30 s and 120 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Process activity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per-process aggregation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165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launches, top-1 / top-5 CPU share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arget card"/>
          <p:cNvSpPr/>
          <p:nvPr/>
        </p:nvSpPr>
        <p:spPr>
          <a:xfrm>
            <a:off x="768096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TARGET: PREDICT THE CHANGE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y(t + h) − y(t)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5146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Differencing, as in the "I" of ARIMA. Forecast = current value + predicted change, so "no change" is the model's natural zero.</a:t>
            </a:r>
            <a:endParaRPr lang="en-US" sz="1400" dirty="0"/>
          </a:p>
        </p:txBody>
      </p:sp>
      <p:sp>
        <p:nvSpPr>
          <p:cNvPr id="10" name="causal card"/>
          <p:cNvSpPr/>
          <p:nvPr/>
        </p:nvSpPr>
        <p:spPr>
          <a:xfrm>
            <a:off x="7680960" y="3977640"/>
            <a:ext cx="39319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look-ahead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5262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feature uses only data at or before t. One function builds features for training and for live use; a test checks both give the same vector.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steps, each a standard method, fitted without leakage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83080"/>
                <a:gridCol w="3291840"/>
                <a:gridCol w="361188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Established method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does in PRISM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Per sample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Clean timestamps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Sort + de-duplicate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later sample wins on a repeated timestamp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Per sample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Counters → rates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First differencing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cumulative bytes → bytes / s; counter reset or gap → missing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Rows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Validity filter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Domain range check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drop non-finite values or values outside 0–100 %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rows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Rows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Warm-up removal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Gap segmentation + burn-in removal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new segment after a gap &gt; 30 s; drop its first 120 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988 rows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Columns ¹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Skewed byte rates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Log-modulus transform (John &amp; Draper, 1980)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sign(x) · log(1 + |x|)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44 columns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Columns ¹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Constant features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Zero-variance filter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drop columns with a single value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dropped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Columns ¹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Redundant features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Pearson correlation filter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if |r| &gt; 0.99, drop the later column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29 dropped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Per model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Missing values, scale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Trees: native missing-value splits · Ridge: median imputation + z-score (StandardScaler)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LightGBM / RF route gaps themselves; Ridge needs complete, scaled input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</a:rPr>
              <a:t>¹ Fitted on training rows only, then applied unchanged to test rows (and refitted inside every cross-validation fold), so no test data influences which columns are kept. Overall: 254 → 224 features. Effects shown for the 45 s target.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ALGORITHMS COMPARED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ML families, one fair test, a rule fixed in advance</a:t>
            </a:r>
            <a:endParaRPr lang="en-US" sz="3200" dirty="0"/>
          </a:p>
        </p:txBody>
      </p:sp>
      <p:sp>
        <p:nvSpPr>
          <p:cNvPr id="4" name="LightGBM card"/>
          <p:cNvSpPr/>
          <p:nvPr/>
        </p:nvSpPr>
        <p:spPr>
          <a:xfrm>
            <a:off x="54864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609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LightGBM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Gradient-boosted trees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small tree fixes the errors of the previous ones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80 rounds · 15 leaves · lr 0.1</a:t>
            </a:r>
            <a:endParaRPr lang="en-US" sz="1200" dirty="0"/>
          </a:p>
        </p:txBody>
      </p:sp>
      <p:sp>
        <p:nvSpPr>
          <p:cNvPr id="10" name="Random Forest card"/>
          <p:cNvSpPr/>
          <p:nvPr/>
        </p:nvSpPr>
        <p:spPr>
          <a:xfrm>
            <a:off x="336042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3300" y="1645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09060" y="1609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Bagged trees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4330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Averages many deep, independent trees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4330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100 trees · depth 12</a:t>
            </a:r>
            <a:endParaRPr lang="en-US" sz="1200" dirty="0"/>
          </a:p>
        </p:txBody>
      </p:sp>
      <p:sp>
        <p:nvSpPr>
          <p:cNvPr id="16" name="Ridge card"/>
          <p:cNvSpPr/>
          <p:nvPr/>
        </p:nvSpPr>
        <p:spPr>
          <a:xfrm>
            <a:off x="617220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64592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1609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Ridge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Regularised linear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sum of features, L2-penalised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α = 1 · imputed + scaled</a:t>
            </a:r>
            <a:endParaRPr lang="en-US" sz="1200" dirty="0"/>
          </a:p>
        </p:txBody>
      </p:sp>
      <p:sp>
        <p:nvSpPr>
          <p:cNvPr id="22" name="Persistence card"/>
          <p:cNvSpPr/>
          <p:nvPr/>
        </p:nvSpPr>
        <p:spPr>
          <a:xfrm>
            <a:off x="898398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66860" y="164592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32620" y="16093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Persistence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668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Reference, not a candidate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6686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Predicts "no change": ŷ(t+h) = y(t)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6686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</a:rPr>
              <a:t>the bar every model must beat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How they are tested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4544568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Chronological hold-out: oldest 80 % train, newest 20 % test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974336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9560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Walk-forward cross-validation (TimeSeriesSplit, 4 folds)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404104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53858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preprocessed features and same Δ target for all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5833872"/>
            <a:ext cx="310896" cy="31089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5833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" y="58155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47.7 h of real usage from one Mac; nothing simulated</a:t>
            </a:r>
            <a:endParaRPr lang="en-US" sz="1400" dirty="0"/>
          </a:p>
        </p:txBody>
      </p:sp>
      <p:sp>
        <p:nvSpPr>
          <p:cNvPr id="41" name="rule"/>
          <p:cNvSpPr/>
          <p:nvPr/>
        </p:nvSpPr>
        <p:spPr>
          <a:xfrm>
            <a:off x="6400800" y="4160520"/>
            <a:ext cx="521208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2940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SELECTION RULE · written before the first run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= 1 − MAE(model) / MAE(persistence)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6629400" y="52120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Highest average skill over 4 targets (CPU, memory × 45 s, 210 s) wins. Skill above 0 means it beats "no change".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model lives in the code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paths under src/aiperfopt/</a:t>
            </a:r>
            <a:endParaRPr lang="en-US" sz="1200" dirty="0"/>
          </a:p>
        </p:txBody>
      </p:sp>
      <p:sp>
        <p:nvSpPr>
          <p:cNvPr id="5" name="Forecasters compared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645920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15910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Forecasters compared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01168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LightGBM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lgb.train, 80 rounds · 15 leaves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01168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forecasting/model.py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255727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57556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Random Forest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RandomForestRegressor, 100 trees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57556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evaluation/model_comparison.py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12115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13944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Ridge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median impute → scale → Ridge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13944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evaluation/model_comparison.py</a:t>
            </a:r>
            <a:endParaRPr lang="en-US" sz="1150" dirty="0"/>
          </a:p>
        </p:txBody>
      </p:sp>
      <p:sp>
        <p:nvSpPr>
          <p:cNvPr id="16" name="Baselines to beat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1645920"/>
            <a:ext cx="219456" cy="21945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48272" y="15910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Baselines to beat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201168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Persistence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"no change": ŷ = current value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201168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forecasting/baselines.py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19088" y="255727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9088" y="257556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Moving average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trailing rolling mean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257556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forecasting/baselines.py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19088" y="312115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9088" y="313944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Holt smoothing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statsmodels Holt, linear trend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313944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forecasting/baselines.py</a:t>
            </a:r>
            <a:endParaRPr lang="en-US" sz="1150" dirty="0"/>
          </a:p>
        </p:txBody>
      </p:sp>
      <p:sp>
        <p:nvSpPr>
          <p:cNvPr id="27" name="Live risk and explanation"/>
          <p:cNvSpPr/>
          <p:nvPr/>
        </p:nvSpPr>
        <p:spPr>
          <a:xfrm>
            <a:off x="548640" y="39776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160520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78992" y="41056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Live risk and explanation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452628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Isolation Forest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how unusual is now (0 to 1)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452628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anomaly/detector.py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9808" y="507187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509016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Logistic regression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probability of a slowdown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926080" y="509016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contention/model.py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9808" y="563575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" y="5654040"/>
            <a:ext cx="210312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SHAP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TreeExplainer on LightGBM → cause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926080" y="5654040"/>
            <a:ext cx="2834640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insight/explainer.py</a:t>
            </a:r>
            <a:endParaRPr lang="en-US" sz="1150" dirty="0"/>
          </a:p>
        </p:txBody>
      </p:sp>
      <p:sp>
        <p:nvSpPr>
          <p:cNvPr id="38" name="Training and deployment"/>
          <p:cNvSpPr/>
          <p:nvPr/>
        </p:nvSpPr>
        <p:spPr>
          <a:xfrm>
            <a:off x="6217920" y="397764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19088" y="4160520"/>
            <a:ext cx="219456" cy="21945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48272" y="41056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Training and deployment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19088" y="4526280"/>
            <a:ext cx="210312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 forecasters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4 LightGBM models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595360" y="4526280"/>
            <a:ext cx="283464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forecasting/training_pipeline.py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19088" y="493090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19088" y="4949190"/>
            <a:ext cx="210312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 classifier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595360" y="4949190"/>
            <a:ext cx="283464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contention/training_pipeline.py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19088" y="535381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19088" y="5372100"/>
            <a:ext cx="210312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beat best baseline by 5 %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595360" y="5372100"/>
            <a:ext cx="283464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lifecycle/gate.py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19088" y="5776722"/>
            <a:ext cx="4992624" cy="0"/>
          </a:xfrm>
          <a:prstGeom prst="line">
            <a:avLst/>
          </a:prstGeom>
          <a:noFill/>
          <a:ln w="9525">
            <a:solidFill>
              <a:srgbClr val="D5DBE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19088" y="5795010"/>
            <a:ext cx="210312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Deploy / roll back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</a:rPr>
              <a:t>versioned models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8595360" y="5795010"/>
            <a:ext cx="283464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lifecycle/deployment.py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ACCURACY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PRISM's forecasts are about 98 % accurate</a:t>
            </a:r>
            <a:endParaRPr lang="en-US" sz="3200" dirty="0"/>
          </a:p>
        </p:txBody>
      </p:sp>
      <p:sp>
        <p:nvSpPr>
          <p:cNvPr id="4" name="overall accuracy"/>
          <p:cNvSpPr/>
          <p:nvPr/>
        </p:nvSpPr>
        <p:spPr>
          <a:xfrm>
            <a:off x="548640" y="1463040"/>
            <a:ext cx="3931920" cy="448056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OVERALL FORECAST ACCURACY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97.9 %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529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LightGBM, average of the 4 forecasts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3383280" cy="0"/>
          </a:xfrm>
          <a:prstGeom prst="line">
            <a:avLst/>
          </a:prstGeom>
          <a:noFill/>
          <a:ln w="9525">
            <a:solidFill>
              <a:srgbClr val="3A4A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HOW IT IS CALCULATED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30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= 100 % − MAE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= (1/n) · Σ | forecast − actual |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537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3E3"/>
                </a:solidFill>
              </a:rPr>
              <a:t>The average miss in percentage points, over n ≈ 22,000 test samples the model never saw.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5285232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30352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CPU 45 s: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100 − 2.95 = 97.0 %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Overall: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100 − 2.06 (mean MAE of 4) = 97.9 %</a:t>
            </a:r>
            <a:endParaRPr lang="en-US" sz="1200" dirty="0"/>
          </a:p>
        </p:txBody>
      </p:sp>
      <p:sp>
        <p:nvSpPr>
          <p:cNvPr id="15" name="CPU 45 s ahead"/>
          <p:cNvSpPr/>
          <p:nvPr/>
        </p:nvSpPr>
        <p:spPr>
          <a:xfrm>
            <a:off x="4754880" y="1463040"/>
            <a:ext cx="33375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1627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CPU  </a:t>
            </a:r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45 s ahead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965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97.0 %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4983480" y="2788920"/>
            <a:ext cx="2880360" cy="146304"/>
          </a:xfrm>
          <a:prstGeom prst="roundRect">
            <a:avLst>
              <a:gd name="adj" fmla="val 50000"/>
            </a:avLst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2788920"/>
            <a:ext cx="2793949" cy="1463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30358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</a:rPr>
              <a:t>Average error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±3.0 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</a:rPr>
              <a:t>Direction right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54 %</a:t>
            </a:r>
            <a:endParaRPr lang="en-US" sz="1300" dirty="0"/>
          </a:p>
        </p:txBody>
      </p:sp>
      <p:sp>
        <p:nvSpPr>
          <p:cNvPr id="21" name="CPU 210 s ahead"/>
          <p:cNvSpPr/>
          <p:nvPr/>
        </p:nvSpPr>
        <p:spPr>
          <a:xfrm>
            <a:off x="8275320" y="1463040"/>
            <a:ext cx="33375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0" y="16276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CPU  </a:t>
            </a:r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210 s ahead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1965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96.3 %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8503920" y="2788920"/>
            <a:ext cx="2880360" cy="146304"/>
          </a:xfrm>
          <a:prstGeom prst="roundRect">
            <a:avLst>
              <a:gd name="adj" fmla="val 50000"/>
            </a:avLst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2788920"/>
            <a:ext cx="2773787" cy="1463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0" y="30358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</a:rPr>
              <a:t>Average error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±3.7 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</a:rPr>
              <a:t>Direction right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54 %</a:t>
            </a:r>
            <a:endParaRPr lang="en-US" sz="1300" dirty="0"/>
          </a:p>
        </p:txBody>
      </p:sp>
      <p:sp>
        <p:nvSpPr>
          <p:cNvPr id="27" name="Memory 45 s ahead"/>
          <p:cNvSpPr/>
          <p:nvPr/>
        </p:nvSpPr>
        <p:spPr>
          <a:xfrm>
            <a:off x="4754880" y="3794760"/>
            <a:ext cx="33375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83480" y="39593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Memory  </a:t>
            </a:r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45 s ahead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42976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99.4 %</a:t>
            </a:r>
            <a:endParaRPr lang="en-US" sz="4400" dirty="0"/>
          </a:p>
        </p:txBody>
      </p:sp>
      <p:sp>
        <p:nvSpPr>
          <p:cNvPr id="30" name="Shape 28"/>
          <p:cNvSpPr/>
          <p:nvPr/>
        </p:nvSpPr>
        <p:spPr>
          <a:xfrm>
            <a:off x="4983480" y="5120640"/>
            <a:ext cx="2880360" cy="146304"/>
          </a:xfrm>
          <a:prstGeom prst="roundRect">
            <a:avLst>
              <a:gd name="adj" fmla="val 50000"/>
            </a:avLst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5120640"/>
            <a:ext cx="2863078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83480" y="536752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</a:rPr>
              <a:t>Average error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±0.6 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</a:rPr>
              <a:t>Direction right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86 %</a:t>
            </a:r>
            <a:endParaRPr lang="en-US" sz="1300" dirty="0"/>
          </a:p>
        </p:txBody>
      </p:sp>
      <p:sp>
        <p:nvSpPr>
          <p:cNvPr id="33" name="Memory 210 s ahead"/>
          <p:cNvSpPr/>
          <p:nvPr/>
        </p:nvSpPr>
        <p:spPr>
          <a:xfrm>
            <a:off x="8275320" y="3794760"/>
            <a:ext cx="33375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39593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Memory  </a:t>
            </a:r>
            <a:pPr indent="0" marL="0">
              <a:buNone/>
            </a:pPr>
            <a:r>
              <a:rPr lang="en-US" sz="1500" dirty="0">
                <a:solidFill>
                  <a:srgbClr val="6B7686"/>
                </a:solidFill>
              </a:rPr>
              <a:t>210 s ahead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42976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99.1 %</a:t>
            </a:r>
            <a:endParaRPr lang="en-US" sz="4400" dirty="0"/>
          </a:p>
        </p:txBody>
      </p:sp>
      <p:sp>
        <p:nvSpPr>
          <p:cNvPr id="36" name="Shape 34"/>
          <p:cNvSpPr/>
          <p:nvPr/>
        </p:nvSpPr>
        <p:spPr>
          <a:xfrm>
            <a:off x="8503920" y="5120640"/>
            <a:ext cx="2880360" cy="146304"/>
          </a:xfrm>
          <a:prstGeom prst="roundRect">
            <a:avLst>
              <a:gd name="adj" fmla="val 50000"/>
            </a:avLst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5120640"/>
            <a:ext cx="2854437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536752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</a:rPr>
              <a:t>Average error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±0.9 points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</a:rPr>
              <a:t>Direction right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82 %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754880" y="5943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</a:rPr>
              <a:t>Direction right = share of samples where the forecast got up, down or steady right (steady = within 2 % of the current value). Memory is steadier than CPU, so it is easier to forecast.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LightGBM: smallest error, on average and at worst</a:t>
            </a:r>
            <a:endParaRPr lang="en-US" sz="3200" dirty="0"/>
          </a:p>
        </p:txBody>
      </p:sp>
      <p:sp>
        <p:nvSpPr>
          <p:cNvPr id="4" name="Fig. 1 caption"/>
          <p:cNvSpPr txBox="1"/>
          <p:nvPr/>
        </p:nvSpPr>
        <p:spPr>
          <a:xfrm>
            <a:off x="548640" y="1417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Fig. 1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Extra forecast error compared with "no change" (lower is better)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ightGBM"/>
          <p:cNvSpPr/>
          <p:nvPr/>
        </p:nvSpPr>
        <p:spPr>
          <a:xfrm>
            <a:off x="7863840" y="1463040"/>
            <a:ext cx="3749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572768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LightGBM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11 % more error than "no change" on average, never more than 23 %</a:t>
            </a:r>
            <a:endParaRPr lang="en-US" sz="1600" dirty="0"/>
          </a:p>
        </p:txBody>
      </p:sp>
      <p:sp>
        <p:nvSpPr>
          <p:cNvPr id="8" name="Random Forest, Ridge"/>
          <p:cNvSpPr/>
          <p:nvPr/>
        </p:nvSpPr>
        <p:spPr>
          <a:xfrm>
            <a:off x="7863840" y="3035808"/>
            <a:ext cx="3749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65008" y="3145536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Random Forest, Ridge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wins one CPU target, but miss badly on memory (up to +85 % and +179 %)</a:t>
            </a:r>
            <a:endParaRPr lang="en-US" sz="1600" dirty="0"/>
          </a:p>
        </p:txBody>
      </p:sp>
      <p:sp>
        <p:nvSpPr>
          <p:cNvPr id="10" name="Why all are above 0"/>
          <p:cNvSpPr/>
          <p:nvPr/>
        </p:nvSpPr>
        <p:spPr>
          <a:xfrm>
            <a:off x="7863840" y="4608576"/>
            <a:ext cx="3749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65008" y="4718304"/>
            <a:ext cx="33832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all are above 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laptop was idle 97 % of the time, so "no change" is usually right; next slide shows where the models help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load changes, the models cut error by ~30 %</a:t>
            </a:r>
            <a:endParaRPr lang="en-US" sz="3200" dirty="0"/>
          </a:p>
        </p:txBody>
      </p:sp>
      <p:sp>
        <p:nvSpPr>
          <p:cNvPr id="4" name="Fig. 2 caption"/>
          <p:cNvSpPr txBox="1"/>
          <p:nvPr/>
        </p:nvSpPr>
        <p:spPr>
          <a:xfrm>
            <a:off x="548640" y="1417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Fig. 2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Average CPU forecast error, 45 s ahead, split by how much the load changed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73152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 0"/>
          <p:cNvSpPr/>
          <p:nvPr/>
        </p:nvSpPr>
        <p:spPr>
          <a:xfrm>
            <a:off x="8229600" y="1463040"/>
            <a:ext cx="33832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30768" y="1600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−30 %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430768" y="2286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changing: LightGBM error 6.1 vs 8.7 points for "no change". This is when a warning is useful.</a:t>
            </a:r>
            <a:endParaRPr lang="en-US" sz="1400" dirty="0"/>
          </a:p>
        </p:txBody>
      </p:sp>
      <p:sp>
        <p:nvSpPr>
          <p:cNvPr id="9" name="callout 1"/>
          <p:cNvSpPr/>
          <p:nvPr/>
        </p:nvSpPr>
        <p:spPr>
          <a:xfrm>
            <a:off x="8229600" y="3840480"/>
            <a:ext cx="33832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30768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+69 %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430768" y="4663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steady: models predict small moves that don't happen (1.9 vs 1.1 points). 3 in 4 samples are steady, so the average looks worse.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ALGORITHM CHOSEN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PRISM uses LightGBM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08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Most accurate overall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Best average skill under the rule fixed in advance.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51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Never badly wrong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 most 23 % worse than "no change"; a monitor that is sometimes far off loses trust.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94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Cheap on a laptop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Fast to predict and 15× faster to train than Random Forest, so retraining on the device is practical.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937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Fits the system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Handles missing values after gaps, and SHAP explains each prediction exactly.</a:t>
            </a:r>
            <a:endParaRPr lang="en-US" sz="1700" dirty="0"/>
          </a:p>
        </p:txBody>
      </p:sp>
      <p:sp>
        <p:nvSpPr>
          <p:cNvPr id="16" name="Table 2 caption"/>
          <p:cNvSpPr txBox="1"/>
          <p:nvPr/>
        </p:nvSpPr>
        <p:spPr>
          <a:xfrm>
            <a:off x="6766560" y="1463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Table 2 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Running cost on the laptop (lower is better)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960120"/>
                <a:gridCol w="100584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LightGBM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Rand. Forest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Ridge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 per prediction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1.7 ms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15.8 ms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2.1 ms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Training time per target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 6 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 88 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≈ 6 s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 file size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138 kB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4.5–10 MB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17 kB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sp>
        <p:nvSpPr>
          <p:cNvPr id="18" name="honest note"/>
          <p:cNvSpPr/>
          <p:nvPr/>
        </p:nvSpPr>
        <p:spPr>
          <a:xfrm>
            <a:off x="6766560" y="4343400"/>
            <a:ext cx="4846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95160" y="434340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Worth testing next: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Ridge was best on short-term CPU. A per-target mix (Ridge for CPU, LightGBM for memory) may do better and needs confirming on new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DEPLOYMENT GATE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is served only if it beats the simple baselines</a:t>
            </a:r>
            <a:endParaRPr lang="en-US" sz="3200" dirty="0"/>
          </a:p>
        </p:txBody>
      </p:sp>
      <p:sp>
        <p:nvSpPr>
          <p:cNvPr id="4" name="Retrain"/>
          <p:cNvSpPr/>
          <p:nvPr/>
        </p:nvSpPr>
        <p:spPr>
          <a:xfrm>
            <a:off x="548640" y="155448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Retrain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the user's own accumulated data, offline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08960" y="2743200"/>
            <a:ext cx="24688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Gate"/>
          <p:cNvSpPr/>
          <p:nvPr/>
        </p:nvSpPr>
        <p:spPr>
          <a:xfrm>
            <a:off x="3401568" y="155448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17556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016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24528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Gate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must beat the best simple baseline (no change, moving average, Holt) by ≥ 5 %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61888" y="2743200"/>
            <a:ext cx="24688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Confirm"/>
          <p:cNvSpPr/>
          <p:nvPr/>
        </p:nvSpPr>
        <p:spPr>
          <a:xfrm>
            <a:off x="6254496" y="155448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175564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309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77456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Confirm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operator approves in the CLI, API or Model view; never automatic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14816" y="2743200"/>
            <a:ext cx="24688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Deploy"/>
          <p:cNvSpPr/>
          <p:nvPr/>
        </p:nvSpPr>
        <p:spPr>
          <a:xfrm>
            <a:off x="9107424" y="155448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36024" y="175564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36024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930384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Deploy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versioned, stored with its evidence; one click rolls back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069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</a:rPr>
              <a:t>If the gate fails, the best baseline keeps serving.</a:t>
            </a:r>
            <a:endParaRPr lang="en-US" sz="1400" dirty="0"/>
          </a:p>
        </p:txBody>
      </p:sp>
      <p:sp>
        <p:nvSpPr>
          <p:cNvPr id="28" name="served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4617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Served today: moving average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 the current data LightGBM does not yet clear the 5 % gate, so the gate correctly keeps it out until it earns its place on new data.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32588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 complete on-device monitor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C9D3E3"/>
                </a:solidFill>
              </a:rPr>
              <a:t>Predicts, explains and advises, with a gated, human-confirmed model lifecycle.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33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603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 fair, leakage-free comparison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C9D3E3"/>
                </a:solidFill>
              </a:rPr>
              <a:t>LightGBM chosen by a rule fixed in advance: smallest error on average and in the worst case.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3867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9476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Value where it matters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C9D3E3"/>
                </a:solidFill>
              </a:rPr>
              <a:t>When CPU load changes, the models cut forecast error by about 30 % versus "no change".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212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</a:rPr>
              <a:t>Sahil Dhanuka · Shambhav Ghosh · Naresh Kumar Bishnoi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731520" y="3108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LIVE DEMO ·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 sees a slowdown coming and says why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1208" y="1435608"/>
            <a:ext cx="5495544" cy="3577704"/>
          </a:xfrm>
          <a:prstGeom prst="rect">
            <a:avLst/>
          </a:prstGeom>
          <a:solidFill>
            <a:srgbClr val="1B1D24"/>
          </a:solidFill>
          <a:ln w="9525">
            <a:solidFill>
              <a:srgbClr val="D5DBE3"/>
            </a:solidFill>
            <a:prstDash val="solid"/>
          </a:ln>
        </p:spPr>
      </p:sp>
      <p:pic>
        <p:nvPicPr>
          <p:cNvPr id="5" name="Image 0" descr="Risk crosses the thres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40680" cy="3522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18704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18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123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Risk crosses the threshold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Contention risk jumps to 70 % (threshold 50 %) with memory at 82 %. The anomaly detector also flags the workload as unusual and lowers confidence.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44768" y="1435608"/>
            <a:ext cx="5495544" cy="3577704"/>
          </a:xfrm>
          <a:prstGeom prst="rect">
            <a:avLst/>
          </a:prstGeom>
          <a:solidFill>
            <a:srgbClr val="1B1D24"/>
          </a:solidFill>
          <a:ln w="9525">
            <a:solidFill>
              <a:srgbClr val="D5DBE3"/>
            </a:solidFill>
            <a:prstDash val="solid"/>
          </a:ln>
        </p:spPr>
      </p:sp>
      <p:pic>
        <p:nvPicPr>
          <p:cNvPr id="10" name="Image 1" descr="Cause and adv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440680" cy="3522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72200" y="5187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72200" y="518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5123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Cause and advice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"Memory usage is climbing steadily". Top advice: close unused browser tabs. The browser's renderer processes lead the memory list.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LIVE DEMO ·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advice is followed and the risk goes away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1208" y="1435608"/>
            <a:ext cx="5495544" cy="3577704"/>
          </a:xfrm>
          <a:prstGeom prst="rect">
            <a:avLst/>
          </a:prstGeom>
          <a:solidFill>
            <a:srgbClr val="1B1D24"/>
          </a:solidFill>
          <a:ln w="9525">
            <a:solidFill>
              <a:srgbClr val="D5DBE3"/>
            </a:solidFill>
            <a:prstDash val="solid"/>
          </a:ln>
        </p:spPr>
      </p:sp>
      <p:pic>
        <p:nvPicPr>
          <p:cNvPr id="5" name="Image 0" descr="Tabs closed, memory dro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40680" cy="3522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1870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18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123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Tabs closed, memory drops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Memory falls from about 82 % to 63 % at 20:02:20; contention risk drops to 0 % within seconds.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44768" y="1435608"/>
            <a:ext cx="5495544" cy="3577704"/>
          </a:xfrm>
          <a:prstGeom prst="rect">
            <a:avLst/>
          </a:prstGeom>
          <a:solidFill>
            <a:srgbClr val="1B1D24"/>
          </a:solidFill>
          <a:ln w="9525">
            <a:solidFill>
              <a:srgbClr val="D5DBE3"/>
            </a:solidFill>
            <a:prstDash val="solid"/>
          </a:ln>
        </p:spPr>
      </p:sp>
      <p:pic>
        <p:nvPicPr>
          <p:cNvPr id="10" name="Image 1" descr="All cl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440680" cy="3522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72200" y="51870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72200" y="518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5123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All clear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"Nothing needs your attention right now." The forecasts keep running every 5 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76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SM">
  <a:themeElements>
    <a:clrScheme name="PRISM">
      <a:dk1>
        <a:srgbClr val="1B2333"/>
      </a:dk1>
      <a:lt1>
        <a:srgbClr val="FFFFFF"/>
      </a:lt1>
      <a:dk2>
        <a:srgbClr val="14213D"/>
      </a:dk2>
      <a:lt2>
        <a:srgbClr val="EEF1F5"/>
      </a:lt2>
      <a:accent1>
        <a:srgbClr val="E8962A"/>
      </a:accent1>
      <a:accent2>
        <a:srgbClr val="2A9D8F"/>
      </a:accent2>
      <a:accent3>
        <a:srgbClr val="6C7FA8"/>
      </a:accent3>
      <a:accent4>
        <a:srgbClr val="A3ACB9"/>
      </a:accent4>
      <a:accent5>
        <a:srgbClr val="C8453F"/>
      </a:accent5>
      <a:accent6>
        <a:srgbClr val="3D5A80"/>
      </a:accent6>
      <a:hlink>
        <a:srgbClr val="3D5A80"/>
      </a:hlink>
      <a:folHlink>
        <a:srgbClr val="6C7FA8"/>
      </a:folHlink>
    </a:clrScheme>
    <a:fontScheme name="PRIS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- Final Review</dc:title>
  <dc:subject>PptxGenJS Presentation</dc:subject>
  <dc:creator>Sahil Dhanuka, Shambhav Ghosh, Naresh Kumar Bishnoi</dc:creator>
  <cp:lastModifiedBy>Sahil Dhanuka, Shambhav Ghosh, Naresh Kumar Bishnoi</cp:lastModifiedBy>
  <cp:revision>1</cp:revision>
  <dcterms:created xsi:type="dcterms:W3CDTF">2026-10-21T03:34:33Z</dcterms:created>
  <dcterms:modified xsi:type="dcterms:W3CDTF">2026-10-21T03:34:33Z</dcterms:modified>
</cp:coreProperties>
</file>